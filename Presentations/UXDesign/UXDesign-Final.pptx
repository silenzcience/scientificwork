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58" r:id="rId4"/>
    <p:sldId id="278" r:id="rId5"/>
    <p:sldId id="279" r:id="rId6"/>
    <p:sldId id="294" r:id="rId7"/>
    <p:sldId id="280" r:id="rId8"/>
    <p:sldId id="285" r:id="rId9"/>
    <p:sldId id="283" r:id="rId10"/>
    <p:sldId id="281" r:id="rId11"/>
    <p:sldId id="284" r:id="rId12"/>
    <p:sldId id="288" r:id="rId13"/>
    <p:sldId id="291" r:id="rId14"/>
    <p:sldId id="295" r:id="rId15"/>
    <p:sldId id="289" r:id="rId16"/>
    <p:sldId id="290" r:id="rId17"/>
    <p:sldId id="296" r:id="rId18"/>
    <p:sldId id="299" r:id="rId19"/>
    <p:sldId id="292" r:id="rId20"/>
    <p:sldId id="293" r:id="rId21"/>
    <p:sldId id="298" r:id="rId22"/>
    <p:sldId id="301" r:id="rId23"/>
    <p:sldId id="300" r:id="rId2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1640472E-FA7B-4FD5-9C75-505595863DCE}">
          <p14:sldIdLst>
            <p14:sldId id="256"/>
            <p14:sldId id="259"/>
            <p14:sldId id="258"/>
            <p14:sldId id="278"/>
            <p14:sldId id="279"/>
            <p14:sldId id="294"/>
            <p14:sldId id="280"/>
            <p14:sldId id="285"/>
            <p14:sldId id="283"/>
            <p14:sldId id="281"/>
            <p14:sldId id="284"/>
            <p14:sldId id="288"/>
            <p14:sldId id="291"/>
            <p14:sldId id="295"/>
            <p14:sldId id="289"/>
            <p14:sldId id="290"/>
            <p14:sldId id="296"/>
            <p14:sldId id="299"/>
            <p14:sldId id="292"/>
            <p14:sldId id="293"/>
            <p14:sldId id="298"/>
            <p14:sldId id="301"/>
            <p14:sldId id="30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C6"/>
    <a:srgbClr val="14365E"/>
    <a:srgbClr val="4575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BEA36-F5A2-41BD-B8ED-7B627F3051BB}" v="1914" dt="2026-02-02T14:42:20.802"/>
    <p1510:client id="{6C857926-3587-43B0-8F40-F2B4EDD07DA4}" v="50" dt="2026-02-02T14:35:26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A1F18-95E3-4422-9FEC-9CFE55A7F8B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C95C8-EEE4-43D8-9872-9A17DE8FD4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54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2611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3:20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5369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5:50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2298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6:45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040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7:30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2293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1231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12:30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1047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13:50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729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D0E8-A45E-D54A-E239-D8828C431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8935D9-9999-EB34-4FF3-B27C2994B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5FF3-D118-305F-B4F7-827FFE9D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8380-C195-4E7A-818F-89F88AEECA94}" type="datetime1">
              <a:rPr lang="LID4096" smtClean="0"/>
              <a:t>02/02/2026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3B023-2459-02CA-2D14-EF843C92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B2365-69B1-498A-360A-8153AEAD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720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C1E4-A1D2-E360-EF39-BFEDE338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CDDA3-3728-C274-824F-76698FE05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E99F0-234A-C066-30F4-7E3539CB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5C1CB-2A36-4C9B-AEC7-7F2925255C2E}" type="datetime1">
              <a:rPr lang="LID4096" smtClean="0"/>
              <a:t>02/02/2026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E3401-B9E4-FC62-AD8C-F3A41233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5ACFC-56BF-BBFE-C0FE-44A14EC2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054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6134-6C77-8F97-F065-2098EA009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D9B48-EB09-E694-5FD8-C2185167E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C633-BD1C-29B5-1E41-6DB47D62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3273-A8D3-4100-BBB8-FB0F522C98E9}" type="datetime1">
              <a:rPr lang="LID4096" smtClean="0"/>
              <a:t>02/02/2026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8B204-551F-59FA-0D7A-7C8E88B9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350D-183C-85D2-3F06-538E450E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598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BFB10-9A82-C615-BC09-D62B9135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C37F-5FDB-3CC6-3B96-1437F8715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542C3-2B1A-8496-0F47-AB982452E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6EEBF-327C-0621-F176-9BB38BA8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DBF4D-D46D-4C27-A409-F00A0E21B9F7}" type="datetime1">
              <a:rPr lang="LID4096" smtClean="0"/>
              <a:t>02/02/2026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5102B-8DF1-4B23-0E83-850C8F0B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85E47-2012-60B9-4D4D-228470EE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166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BFA8-63D1-0A03-787E-0441D61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12E86-7AFB-17CA-C7EE-A8156863A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9499E-0DF8-00F1-FAB8-A421565D1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74072-F032-4736-ABC5-A1D8969AD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7B6F6D-E73A-B4EF-1C44-7801AC130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ED8A1-8071-4E36-D83F-18C0D801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8D1C-625B-41DF-B317-C56196925884}" type="datetime1">
              <a:rPr lang="LID4096" smtClean="0"/>
              <a:t>02/02/2026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587F0D-26EA-71C1-4B1E-D111CAF1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B58C3-90A3-C348-284B-731ECE3D8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223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AC99A-D14D-9CE1-4525-FBDFF818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C0C53-6DB9-5259-6C9A-36888A6B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ED82-09C9-480B-BAE6-423F94FC5724}" type="datetime1">
              <a:rPr lang="LID4096" smtClean="0"/>
              <a:t>02/02/2026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19292-2D33-F8C3-55A2-1682D06B2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C3BFC-B5DD-98D5-5D9D-68E7A7C3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533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62120-AAAE-C042-6A74-F66E4A00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D6E1-F084-4902-9755-636861229408}" type="datetime1">
              <a:rPr lang="LID4096" smtClean="0"/>
              <a:t>02/02/2026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C9440E-8948-1080-339A-569A0025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D4ED0-EBC3-CB56-3262-A4E3B1A6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993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40D4-2174-FDB5-0093-DB4B8B74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8549E-1407-F537-80C4-723D7FAD2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D6D3F-5947-A1E6-BC4C-60A08AB94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6847C-7D6C-46A6-3601-D5ED8B46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F898-AC4A-4CFC-85DA-B93E290B5D28}" type="datetime1">
              <a:rPr lang="LID4096" smtClean="0"/>
              <a:t>02/02/2026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B1519-D791-D382-4D54-BB250C90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4D1D7-E067-5CB8-5F7B-DEDEE560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924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E278-FDF0-0DBA-4B6C-F26525A8F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2CDF4-EA21-4FCC-0CD6-E0CE0D554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80787-84D4-38A8-C490-A2214189E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DC146-B341-CF14-5EB4-D3BECAA5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BF3C-7F71-4F06-9044-A20A91A6B3DA}" type="datetime1">
              <a:rPr lang="LID4096" smtClean="0"/>
              <a:t>02/02/2026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B77F9-7A7A-A935-6909-1EB43290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9FC2A-2B31-A6BD-D703-722AA257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825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9875-2A9A-A0F8-85E7-90E79B00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BC3A5-18C9-F736-CABF-D7CC5472A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60729-75C6-43C7-C416-8E47898F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5B73-FCD6-4B67-AF1D-5F17F60EAFE9}" type="datetime1">
              <a:rPr lang="LID4096" smtClean="0"/>
              <a:t>02/02/2026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702D0-C4E1-84B3-4035-56E25DAC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21054-8A97-497C-6064-910F796F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8070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08954-C597-2F40-5359-686DFAF3D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FFCC3-2B29-E8FF-ACEC-805842BB7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B0E52-2D13-BFC3-A29D-2672C3CC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44C79-0E52-4858-8DE8-B244B246CE73}" type="datetime1">
              <a:rPr lang="LID4096" smtClean="0"/>
              <a:t>02/02/2026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F0214-1268-135D-D591-BBA95C72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B3A4-DB2B-2EEC-5658-82F4B94E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603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B48D9-BC58-4762-3210-093DE806E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AA98-238A-8F90-9DE4-983056514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B2F0-AD93-7FF9-70F5-E19A13C84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C72F5-9062-4328-8F2D-73894A6939F9}" type="datetime1">
              <a:rPr lang="LID4096" smtClean="0"/>
              <a:t>02/02/2026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162C-D7D1-8F46-B223-424CB534E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9BC0F-F1AB-5EC3-BCFF-515736892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603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Montserrat ExtraBold" panose="000009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80000"/>
        </a:lnSpc>
        <a:spcBef>
          <a:spcPts val="10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80000"/>
        </a:lnSpc>
        <a:spcBef>
          <a:spcPts val="5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0000"/>
        </a:lnSpc>
        <a:spcBef>
          <a:spcPts val="5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0000"/>
        </a:lnSpc>
        <a:spcBef>
          <a:spcPts val="5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0000"/>
        </a:lnSpc>
        <a:spcBef>
          <a:spcPts val="5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5042-D394-AA1C-9107-8AB6C9E69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074027"/>
            <a:ext cx="10109199" cy="598032"/>
          </a:xfrm>
        </p:spPr>
        <p:txBody>
          <a:bodyPr anchor="ctr">
            <a:noAutofit/>
          </a:bodyPr>
          <a:lstStyle/>
          <a:p>
            <a:pPr algn="l"/>
            <a:r>
              <a:rPr lang="en-US" sz="4400" spc="100">
                <a:solidFill>
                  <a:srgbClr val="14365E"/>
                </a:solidFill>
                <a:latin typeface="Montserrat ExtraBold"/>
                <a:cs typeface="Poppins"/>
                <a:sym typeface="Poppins"/>
                <a:rtl val="0"/>
              </a:rPr>
              <a:t>UX Design </a:t>
            </a:r>
            <a:r>
              <a:rPr lang="en-US" sz="4400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Challenge</a:t>
            </a:r>
            <a:r>
              <a:rPr lang="de-DE" sz="4400" b="1"/>
              <a:t> </a:t>
            </a:r>
            <a:r>
              <a:rPr lang="de-DE" sz="4400">
                <a:solidFill>
                  <a:srgbClr val="14365E"/>
                </a:solidFill>
                <a:latin typeface="Montserrat" panose="00000500000000000000" pitchFamily="2" charset="0"/>
              </a:rPr>
              <a:t>(Final)</a:t>
            </a:r>
            <a:endParaRPr lang="en-DE" sz="4400">
              <a:solidFill>
                <a:srgbClr val="14365E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18030-B5E9-E9BF-A96B-D8881D4A4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5672059"/>
            <a:ext cx="10109199" cy="547765"/>
          </a:xfrm>
        </p:spPr>
        <p:txBody>
          <a:bodyPr anchor="t">
            <a:normAutofit/>
          </a:bodyPr>
          <a:lstStyle/>
          <a:p>
            <a:pPr algn="l"/>
            <a:r>
              <a:rPr lang="de-DE" err="1"/>
              <a:t>with</a:t>
            </a:r>
            <a:r>
              <a:rPr lang="de-DE"/>
              <a:t> a </a:t>
            </a:r>
            <a:r>
              <a:rPr lang="de-DE" err="1"/>
              <a:t>focus</a:t>
            </a:r>
            <a:r>
              <a:rPr lang="de-DE"/>
              <a:t> on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participation</a:t>
            </a:r>
            <a:endParaRPr lang="en-DE"/>
          </a:p>
        </p:txBody>
      </p:sp>
      <p:pic>
        <p:nvPicPr>
          <p:cNvPr id="5" name="Grafik 4" descr="Ein Bild, das Reh, Text, Säugetier enthält.&#10;&#10;KI-generierte Inhalte können fehlerhaft sein.">
            <a:extLst>
              <a:ext uri="{FF2B5EF4-FFF2-40B4-BE49-F238E27FC236}">
                <a16:creationId xmlns:a16="http://schemas.microsoft.com/office/drawing/2014/main" id="{E73438C1-E24B-7312-5122-2C91502A0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3" b="3362"/>
          <a:stretch>
            <a:fillRect/>
          </a:stretch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A6F5DBE5-9440-1625-34C3-E99E5526C438}"/>
              </a:ext>
            </a:extLst>
          </p:cNvPr>
          <p:cNvSpPr txBox="1">
            <a:spLocks/>
          </p:cNvSpPr>
          <p:nvPr/>
        </p:nvSpPr>
        <p:spPr>
          <a:xfrm>
            <a:off x="762000" y="6121639"/>
            <a:ext cx="10109199" cy="547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0000"/>
              </a:lnSpc>
              <a:spcBef>
                <a:spcPts val="5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0000"/>
              </a:lnSpc>
              <a:spcBef>
                <a:spcPts val="5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5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0000"/>
              </a:lnSpc>
              <a:spcBef>
                <a:spcPts val="5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400" err="1"/>
              <a:t>by</a:t>
            </a:r>
            <a:r>
              <a:rPr lang="de-DE" sz="1400"/>
              <a:t> Silas Kraume, Léon Lehnen, </a:t>
            </a:r>
            <a:r>
              <a:rPr lang="de-DE" sz="1400" err="1"/>
              <a:t>Anh</a:t>
            </a:r>
            <a:r>
              <a:rPr lang="de-DE" sz="1400"/>
              <a:t>-Thu Dinh and Alejandro Soto</a:t>
            </a:r>
            <a:endParaRPr lang="en-DE" sz="1400"/>
          </a:p>
        </p:txBody>
      </p:sp>
    </p:spTree>
    <p:extLst>
      <p:ext uri="{BB962C8B-B14F-4D97-AF65-F5344CB8AC3E}">
        <p14:creationId xmlns:p14="http://schemas.microsoft.com/office/powerpoint/2010/main" val="259409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4B50262-DF16-45DD-A7ED-23CDAB6D6F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494433" y="887283"/>
            <a:ext cx="5500224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100" normalizeH="0" baseline="0" noProof="0">
                <a:ln>
                  <a:noFill/>
                </a:ln>
                <a:solidFill>
                  <a:srgbClr val="14365E"/>
                </a:solidFill>
                <a:effectLst/>
                <a:uLnTx/>
                <a:uFillTx/>
                <a:latin typeface="Montserrat ExtraBold"/>
                <a:ea typeface="+mn-ea"/>
                <a:cs typeface="Poppins"/>
                <a:sym typeface="Poppins"/>
                <a:rtl val="0"/>
              </a:rPr>
              <a:t>Table Of </a:t>
            </a:r>
            <a:r>
              <a:rPr kumimoji="0" lang="en-US" sz="4000" b="0" i="0" u="none" strike="noStrike" kern="1200" cap="none" spc="100" normalizeH="0" baseline="0" noProof="0">
                <a:ln>
                  <a:noFill/>
                </a:ln>
                <a:solidFill>
                  <a:srgbClr val="0080C6"/>
                </a:solidFill>
                <a:effectLst/>
                <a:uLnTx/>
                <a:uFillTx/>
                <a:latin typeface="Montserrat ExtraBold"/>
                <a:ea typeface="+mn-ea"/>
                <a:cs typeface="Poppins"/>
                <a:sym typeface="Poppins"/>
                <a:rtl val="0"/>
              </a:rPr>
              <a:t>Contents</a:t>
            </a:r>
            <a:r>
              <a:rPr kumimoji="0" lang="en-US" sz="4000" b="0" i="0" u="none" strike="noStrike" kern="1200" cap="none" spc="1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ExtraBold"/>
                <a:ea typeface="+mn-ea"/>
                <a:cs typeface="Poppins"/>
                <a:sym typeface="Poppins"/>
                <a:rtl val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37113B-15F5-45A5-90FB-8FF9BC6C7881}"/>
              </a:ext>
            </a:extLst>
          </p:cNvPr>
          <p:cNvSpPr txBox="1"/>
          <p:nvPr/>
        </p:nvSpPr>
        <p:spPr>
          <a:xfrm>
            <a:off x="5694140" y="1918974"/>
            <a:ext cx="18229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Challenge &amp; Goal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C08BA-B6F4-4300-80AB-07F72BA9B80B}"/>
              </a:ext>
            </a:extLst>
          </p:cNvPr>
          <p:cNvSpPr txBox="1"/>
          <p:nvPr/>
        </p:nvSpPr>
        <p:spPr>
          <a:xfrm>
            <a:off x="10955133" y="1923738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03</a:t>
            </a:r>
          </a:p>
        </p:txBody>
      </p:sp>
      <p:pic>
        <p:nvPicPr>
          <p:cNvPr id="3" name="Picture 2" descr="rhekiss logo">
            <a:extLst>
              <a:ext uri="{FF2B5EF4-FFF2-40B4-BE49-F238E27FC236}">
                <a16:creationId xmlns:a16="http://schemas.microsoft.com/office/drawing/2014/main" id="{CE4CABDF-D071-7152-229E-DDD4E24B1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21" y="1166494"/>
            <a:ext cx="3246742" cy="4606671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A3E3B8-C9A0-4143-BED9-8A6824869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2052119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263751-62E3-46E2-B16C-76E48B05C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2239564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B19338-F53C-B284-DA33-3B5D6CCEDF4D}"/>
              </a:ext>
            </a:extLst>
          </p:cNvPr>
          <p:cNvSpPr txBox="1"/>
          <p:nvPr/>
        </p:nvSpPr>
        <p:spPr>
          <a:xfrm>
            <a:off x="5694140" y="2256709"/>
            <a:ext cx="31053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Applied UX Research Methods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87E670-8F64-0FAF-AB96-EDFD4123CAD1}"/>
              </a:ext>
            </a:extLst>
          </p:cNvPr>
          <p:cNvSpPr txBox="1"/>
          <p:nvPr/>
        </p:nvSpPr>
        <p:spPr>
          <a:xfrm>
            <a:off x="10940705" y="2286873"/>
            <a:ext cx="399469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04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A66F7EF-9B9C-5BBA-DC42-A56AD8EFF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2415254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C49E038-785C-9C2A-EBFD-1E716ABAB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2602699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18F896-FB11-E4E2-DB0F-4CCA31A8A302}"/>
              </a:ext>
            </a:extLst>
          </p:cNvPr>
          <p:cNvSpPr txBox="1"/>
          <p:nvPr/>
        </p:nvSpPr>
        <p:spPr>
          <a:xfrm>
            <a:off x="5694140" y="2646339"/>
            <a:ext cx="242406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Data Analysis Overview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5445D3-E65A-2FA2-98B1-EA14158A7B26}"/>
              </a:ext>
            </a:extLst>
          </p:cNvPr>
          <p:cNvSpPr txBox="1"/>
          <p:nvPr/>
        </p:nvSpPr>
        <p:spPr>
          <a:xfrm>
            <a:off x="10940705" y="2651103"/>
            <a:ext cx="399469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05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89B81CAC-BF5B-E21D-784B-9DF03C98E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2779484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663AA44-A099-5457-10DA-FF5FC9946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2966929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8D3625-EE49-0523-8F6F-197A022EC206}"/>
              </a:ext>
            </a:extLst>
          </p:cNvPr>
          <p:cNvSpPr txBox="1"/>
          <p:nvPr/>
        </p:nvSpPr>
        <p:spPr>
          <a:xfrm>
            <a:off x="5694140" y="3009474"/>
            <a:ext cx="20681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Patient Perspective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2C612A-B56F-83A6-641D-79B6175708DD}"/>
              </a:ext>
            </a:extLst>
          </p:cNvPr>
          <p:cNvSpPr txBox="1"/>
          <p:nvPr/>
        </p:nvSpPr>
        <p:spPr>
          <a:xfrm>
            <a:off x="10940705" y="3014238"/>
            <a:ext cx="399469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06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A2B5444-E4D9-2195-C13E-B65EC0D50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3142619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1EE7ED2-DC15-CAC9-D96F-A7070B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3330064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D58437-F6CF-7F28-0685-ED6217FEECB0}"/>
              </a:ext>
            </a:extLst>
          </p:cNvPr>
          <p:cNvSpPr txBox="1"/>
          <p:nvPr/>
        </p:nvSpPr>
        <p:spPr>
          <a:xfrm>
            <a:off x="5694140" y="3372204"/>
            <a:ext cx="22846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Physician Perspective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2044B8-6440-19DD-E97B-8B60E634602F}"/>
              </a:ext>
            </a:extLst>
          </p:cNvPr>
          <p:cNvSpPr txBox="1"/>
          <p:nvPr/>
        </p:nvSpPr>
        <p:spPr>
          <a:xfrm>
            <a:off x="10955132" y="3376968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14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C356993-615F-79CA-F9A7-D3EB9C12B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3505349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C7A70A8-319A-7DFF-F0D1-2F63A8FDA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3692794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51B265-B5AA-61EF-ED70-8F6E38B7BA3B}"/>
              </a:ext>
            </a:extLst>
          </p:cNvPr>
          <p:cNvSpPr txBox="1"/>
          <p:nvPr/>
        </p:nvSpPr>
        <p:spPr>
          <a:xfrm>
            <a:off x="5694140" y="3734934"/>
            <a:ext cx="9685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Security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EC513F-C914-B945-E399-6F50F95F27DF}"/>
              </a:ext>
            </a:extLst>
          </p:cNvPr>
          <p:cNvSpPr txBox="1"/>
          <p:nvPr/>
        </p:nvSpPr>
        <p:spPr>
          <a:xfrm>
            <a:off x="10955132" y="3739698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21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72C795B-812B-4218-E0D9-B3527AE74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3868079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CC88DE86-AC15-0298-80FD-3494DCDB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4055524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3586548-0276-8AB1-A11A-93FDBDD46690}"/>
              </a:ext>
            </a:extLst>
          </p:cNvPr>
          <p:cNvSpPr txBox="1"/>
          <p:nvPr/>
        </p:nvSpPr>
        <p:spPr>
          <a:xfrm>
            <a:off x="5690284" y="4099569"/>
            <a:ext cx="27687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Technological Implications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330689-5E92-33A0-1A12-CF1567C5D810}"/>
              </a:ext>
            </a:extLst>
          </p:cNvPr>
          <p:cNvSpPr txBox="1"/>
          <p:nvPr/>
        </p:nvSpPr>
        <p:spPr>
          <a:xfrm>
            <a:off x="10951276" y="4104333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22</a:t>
            </a: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D279A079-ECA0-188C-17CB-4F7D918AE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18751" y="4232714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A02E709A-2ABA-9AFC-9DD1-189C287F3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0935" y="4420159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BEB46C1-C549-1BB1-EB2E-CCDBBB2A28B4}"/>
              </a:ext>
            </a:extLst>
          </p:cNvPr>
          <p:cNvSpPr txBox="1"/>
          <p:nvPr/>
        </p:nvSpPr>
        <p:spPr>
          <a:xfrm>
            <a:off x="5686428" y="4462704"/>
            <a:ext cx="12586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Conclusion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4C2BCD-2739-16FC-3075-1610FB3F9990}"/>
              </a:ext>
            </a:extLst>
          </p:cNvPr>
          <p:cNvSpPr txBox="1"/>
          <p:nvPr/>
        </p:nvSpPr>
        <p:spPr>
          <a:xfrm>
            <a:off x="10932993" y="4467468"/>
            <a:ext cx="399468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23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1A0DC1D1-B0ED-123D-AC16-4A9FB5DBA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14895" y="4595849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A400DA8-7508-EF73-352E-9618127CE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7079" y="4783294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1645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06BD9-46A6-CE90-06C9-FB89AC7F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Challenge &amp;</a:t>
            </a:r>
            <a:r>
              <a:rPr lang="de-DE"/>
              <a:t>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Goal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C5A98-1BC3-F969-88DA-DDF2F3D38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650" y="1988588"/>
            <a:ext cx="7112000" cy="3707362"/>
          </a:xfrm>
        </p:spPr>
        <p:txBody>
          <a:bodyPr>
            <a:normAutofit/>
          </a:bodyPr>
          <a:lstStyle/>
          <a:p>
            <a:r>
              <a:rPr lang="de-DE" b="1" err="1"/>
              <a:t>Current</a:t>
            </a:r>
            <a:r>
              <a:rPr lang="de-DE" b="1"/>
              <a:t> State</a:t>
            </a:r>
          </a:p>
          <a:p>
            <a:pPr lvl="1"/>
            <a:r>
              <a:rPr lang="de-DE" err="1"/>
              <a:t>Functional</a:t>
            </a:r>
            <a:r>
              <a:rPr lang="de-DE"/>
              <a:t> but </a:t>
            </a:r>
            <a:r>
              <a:rPr lang="de-DE" err="1"/>
              <a:t>visually</a:t>
            </a:r>
            <a:r>
              <a:rPr lang="de-DE"/>
              <a:t> </a:t>
            </a:r>
            <a:r>
              <a:rPr lang="de-DE" err="1"/>
              <a:t>outdated</a:t>
            </a:r>
            <a:r>
              <a:rPr lang="de-DE"/>
              <a:t> &amp; user-</a:t>
            </a:r>
            <a:r>
              <a:rPr lang="de-DE" err="1"/>
              <a:t>unfriendly</a:t>
            </a:r>
            <a:endParaRPr lang="de-DE"/>
          </a:p>
          <a:p>
            <a:pPr lvl="1"/>
            <a:r>
              <a:rPr lang="de-DE"/>
              <a:t>Lacks </a:t>
            </a:r>
            <a:r>
              <a:rPr lang="de-DE" err="1"/>
              <a:t>critical</a:t>
            </a:r>
            <a:r>
              <a:rPr lang="de-DE"/>
              <a:t> </a:t>
            </a:r>
            <a:r>
              <a:rPr lang="de-DE" err="1"/>
              <a:t>feedback</a:t>
            </a:r>
            <a:r>
              <a:rPr lang="de-DE"/>
              <a:t> &amp; </a:t>
            </a:r>
            <a:r>
              <a:rPr lang="de-DE" err="1"/>
              <a:t>guidance</a:t>
            </a:r>
            <a:endParaRPr lang="de-DE"/>
          </a:p>
          <a:p>
            <a:pPr lvl="1"/>
            <a:r>
              <a:rPr lang="de-DE"/>
              <a:t>Risk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unintentional</a:t>
            </a:r>
            <a:r>
              <a:rPr lang="de-DE"/>
              <a:t> </a:t>
            </a:r>
            <a:r>
              <a:rPr lang="de-DE" err="1"/>
              <a:t>errors</a:t>
            </a:r>
            <a:r>
              <a:rPr lang="de-DE"/>
              <a:t> and </a:t>
            </a:r>
            <a:r>
              <a:rPr lang="de-DE" err="1"/>
              <a:t>imcomplete</a:t>
            </a:r>
            <a:r>
              <a:rPr lang="de-DE"/>
              <a:t> </a:t>
            </a:r>
            <a:r>
              <a:rPr lang="de-DE" err="1"/>
              <a:t>tasks</a:t>
            </a:r>
            <a:endParaRPr lang="de-DE"/>
          </a:p>
          <a:p>
            <a:pPr lvl="1"/>
            <a:r>
              <a:rPr lang="de-DE" err="1"/>
              <a:t>Affects</a:t>
            </a:r>
            <a:r>
              <a:rPr lang="de-DE"/>
              <a:t> </a:t>
            </a:r>
            <a:r>
              <a:rPr lang="de-DE" err="1"/>
              <a:t>both</a:t>
            </a:r>
            <a:r>
              <a:rPr lang="de-DE"/>
              <a:t> </a:t>
            </a:r>
            <a:r>
              <a:rPr lang="de-DE" err="1"/>
              <a:t>patients</a:t>
            </a:r>
            <a:r>
              <a:rPr lang="de-DE"/>
              <a:t> and </a:t>
            </a:r>
            <a:r>
              <a:rPr lang="de-DE" err="1"/>
              <a:t>physicians</a:t>
            </a:r>
            <a:endParaRPr lang="de-DE"/>
          </a:p>
          <a:p>
            <a:endParaRPr lang="de-DE"/>
          </a:p>
          <a:p>
            <a:r>
              <a:rPr lang="de-DE" b="1" err="1"/>
              <a:t>Desired</a:t>
            </a:r>
            <a:r>
              <a:rPr lang="de-DE" b="1"/>
              <a:t> State</a:t>
            </a:r>
          </a:p>
          <a:p>
            <a:pPr lvl="1"/>
            <a:r>
              <a:rPr lang="de-DE" err="1"/>
              <a:t>Improve</a:t>
            </a:r>
            <a:r>
              <a:rPr lang="de-DE"/>
              <a:t> </a:t>
            </a:r>
            <a:r>
              <a:rPr lang="de-DE" err="1"/>
              <a:t>clarity</a:t>
            </a:r>
            <a:r>
              <a:rPr lang="de-DE"/>
              <a:t>, </a:t>
            </a:r>
            <a:r>
              <a:rPr lang="de-DE" err="1"/>
              <a:t>usability</a:t>
            </a:r>
            <a:r>
              <a:rPr lang="de-DE"/>
              <a:t> &amp; </a:t>
            </a:r>
            <a:r>
              <a:rPr lang="de-DE" err="1"/>
              <a:t>reliability</a:t>
            </a:r>
            <a:endParaRPr lang="de-DE"/>
          </a:p>
          <a:p>
            <a:pPr lvl="1"/>
            <a:r>
              <a:rPr lang="de-DE"/>
              <a:t>Low-</a:t>
            </a:r>
            <a:r>
              <a:rPr lang="de-DE" err="1"/>
              <a:t>burden</a:t>
            </a:r>
            <a:r>
              <a:rPr lang="de-DE"/>
              <a:t> </a:t>
            </a:r>
            <a:r>
              <a:rPr lang="de-DE" err="1"/>
              <a:t>experience</a:t>
            </a:r>
            <a:endParaRPr lang="de-DE"/>
          </a:p>
          <a:p>
            <a:pPr lvl="1"/>
            <a:r>
              <a:rPr lang="de-DE" err="1"/>
              <a:t>Ensure</a:t>
            </a:r>
            <a:r>
              <a:rPr lang="de-DE"/>
              <a:t> high-quality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collection</a:t>
            </a:r>
            <a:endParaRPr lang="de-DE"/>
          </a:p>
          <a:p>
            <a:pPr lvl="1"/>
            <a:r>
              <a:rPr lang="de-DE" err="1"/>
              <a:t>Adhere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non-profit </a:t>
            </a:r>
            <a:r>
              <a:rPr lang="de-DE" err="1"/>
              <a:t>budget</a:t>
            </a:r>
            <a:r>
              <a:rPr lang="de-DE"/>
              <a:t> </a:t>
            </a:r>
            <a:r>
              <a:rPr lang="de-DE" err="1"/>
              <a:t>constraints</a:t>
            </a:r>
            <a:endParaRPr lang="de-DE"/>
          </a:p>
          <a:p>
            <a:pPr lvl="1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BCCD19-61E3-3101-2933-EDF4C0B9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3</a:t>
            </a:fld>
            <a:endParaRPr lang="en-DE"/>
          </a:p>
        </p:txBody>
      </p:sp>
      <p:pic>
        <p:nvPicPr>
          <p:cNvPr id="7" name="Graphic 6" descr="Bullseye outline">
            <a:extLst>
              <a:ext uri="{FF2B5EF4-FFF2-40B4-BE49-F238E27FC236}">
                <a16:creationId xmlns:a16="http://schemas.microsoft.com/office/drawing/2014/main" id="{E881EC9D-D059-F067-F700-E4E7E1149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050" y="4057650"/>
            <a:ext cx="914400" cy="914400"/>
          </a:xfrm>
          <a:prstGeom prst="rect">
            <a:avLst/>
          </a:prstGeom>
        </p:spPr>
      </p:pic>
      <p:pic>
        <p:nvPicPr>
          <p:cNvPr id="18" name="Graphic 17" descr="Construction Barricade outline">
            <a:extLst>
              <a:ext uri="{FF2B5EF4-FFF2-40B4-BE49-F238E27FC236}">
                <a16:creationId xmlns:a16="http://schemas.microsoft.com/office/drawing/2014/main" id="{6FC0DD2E-3470-8F07-4828-D36966DE6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5050" y="224206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99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1A44D-E009-1DA3-D777-90DD0309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3E94-0A13-0EC2-68F8-A3F34A33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Applied </a:t>
            </a:r>
            <a:r>
              <a:rPr lang="de-DE">
                <a:solidFill>
                  <a:srgbClr val="0080C6"/>
                </a:solidFill>
              </a:rPr>
              <a:t>UX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Research Methods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97C28-50DC-1AD7-EB0D-38AAEE2D7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650" y="1791738"/>
            <a:ext cx="8464550" cy="4564612"/>
          </a:xfrm>
        </p:spPr>
        <p:txBody>
          <a:bodyPr>
            <a:normAutofit/>
          </a:bodyPr>
          <a:lstStyle/>
          <a:p>
            <a:r>
              <a:rPr lang="de-DE" b="1"/>
              <a:t>Workflow Review</a:t>
            </a:r>
          </a:p>
          <a:p>
            <a:pPr lvl="1"/>
            <a:r>
              <a:rPr lang="de-DE" err="1"/>
              <a:t>Accessed</a:t>
            </a:r>
            <a:r>
              <a:rPr lang="de-DE"/>
              <a:t> </a:t>
            </a:r>
            <a:r>
              <a:rPr lang="de-DE" err="1"/>
              <a:t>both</a:t>
            </a:r>
            <a:r>
              <a:rPr lang="de-DE"/>
              <a:t> </a:t>
            </a:r>
            <a:r>
              <a:rPr lang="de-DE" err="1"/>
              <a:t>patients</a:t>
            </a:r>
            <a:r>
              <a:rPr lang="de-DE"/>
              <a:t> and </a:t>
            </a:r>
            <a:r>
              <a:rPr lang="de-DE" err="1"/>
              <a:t>physicians</a:t>
            </a:r>
            <a:r>
              <a:rPr lang="de-DE"/>
              <a:t> </a:t>
            </a:r>
            <a:r>
              <a:rPr lang="de-DE" err="1"/>
              <a:t>platform</a:t>
            </a:r>
            <a:endParaRPr lang="de-DE"/>
          </a:p>
          <a:p>
            <a:pPr lvl="1"/>
            <a:r>
              <a:rPr lang="de-DE" err="1"/>
              <a:t>Reviewed</a:t>
            </a:r>
            <a:r>
              <a:rPr lang="de-DE"/>
              <a:t> all relevant </a:t>
            </a:r>
            <a:r>
              <a:rPr lang="de-DE" err="1"/>
              <a:t>processes</a:t>
            </a:r>
            <a:endParaRPr lang="de-DE"/>
          </a:p>
          <a:p>
            <a:pPr lvl="1"/>
            <a:endParaRPr lang="de-DE"/>
          </a:p>
          <a:p>
            <a:r>
              <a:rPr lang="de-DE" b="1"/>
              <a:t>Interviews &amp; </a:t>
            </a:r>
            <a:r>
              <a:rPr lang="de-DE" b="1" err="1"/>
              <a:t>Testing</a:t>
            </a:r>
            <a:endParaRPr lang="de-DE" b="1"/>
          </a:p>
          <a:p>
            <a:pPr lvl="1"/>
            <a:r>
              <a:rPr lang="de-DE" err="1"/>
              <a:t>Conducted</a:t>
            </a:r>
            <a:r>
              <a:rPr lang="de-DE"/>
              <a:t> </a:t>
            </a:r>
            <a:r>
              <a:rPr lang="de-DE" err="1"/>
              <a:t>interviews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patients</a:t>
            </a:r>
            <a:r>
              <a:rPr lang="de-DE"/>
              <a:t> and </a:t>
            </a:r>
            <a:r>
              <a:rPr lang="de-DE" err="1"/>
              <a:t>physicians</a:t>
            </a:r>
            <a:endParaRPr lang="de-DE"/>
          </a:p>
          <a:p>
            <a:pPr lvl="1"/>
            <a:r>
              <a:rPr lang="de-DE"/>
              <a:t>Usability </a:t>
            </a:r>
            <a:r>
              <a:rPr lang="de-DE" err="1"/>
              <a:t>Testing</a:t>
            </a:r>
            <a:endParaRPr lang="de-DE"/>
          </a:p>
          <a:p>
            <a:pPr lvl="1"/>
            <a:endParaRPr lang="de-DE"/>
          </a:p>
          <a:p>
            <a:r>
              <a:rPr lang="de-DE" b="1"/>
              <a:t>Technical Audit</a:t>
            </a:r>
          </a:p>
          <a:p>
            <a:pPr lvl="1"/>
            <a:r>
              <a:rPr lang="de-DE" err="1"/>
              <a:t>Collected</a:t>
            </a:r>
            <a:r>
              <a:rPr lang="de-DE"/>
              <a:t> </a:t>
            </a:r>
            <a:r>
              <a:rPr lang="de-DE" err="1"/>
              <a:t>technical</a:t>
            </a:r>
            <a:r>
              <a:rPr lang="de-DE"/>
              <a:t> and </a:t>
            </a:r>
            <a:r>
              <a:rPr lang="de-DE" err="1"/>
              <a:t>quality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(Google </a:t>
            </a:r>
            <a:r>
              <a:rPr lang="de-DE" err="1"/>
              <a:t>Lighthouse</a:t>
            </a:r>
            <a:r>
              <a:rPr lang="de-DE"/>
              <a:t>)</a:t>
            </a:r>
          </a:p>
          <a:p>
            <a:pPr lvl="1"/>
            <a:r>
              <a:rPr lang="de-DE" err="1"/>
              <a:t>Accessibility</a:t>
            </a:r>
            <a:r>
              <a:rPr lang="de-DE"/>
              <a:t>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Device </a:t>
            </a:r>
            <a:r>
              <a:rPr lang="de-DE" err="1"/>
              <a:t>compatibility</a:t>
            </a:r>
            <a:endParaRPr lang="de-DE"/>
          </a:p>
          <a:p>
            <a:pPr marL="457200" lvl="1" indent="0">
              <a:buNone/>
            </a:pPr>
            <a:endParaRPr lang="de-DE"/>
          </a:p>
          <a:p>
            <a:r>
              <a:rPr lang="de-DE" b="1"/>
              <a:t>Data Collection</a:t>
            </a:r>
          </a:p>
          <a:p>
            <a:pPr lvl="1"/>
            <a:r>
              <a:rPr lang="de-DE" err="1"/>
              <a:t>Gained</a:t>
            </a:r>
            <a:r>
              <a:rPr lang="de-DE"/>
              <a:t> </a:t>
            </a:r>
            <a:r>
              <a:rPr lang="de-DE" err="1"/>
              <a:t>click</a:t>
            </a:r>
            <a:r>
              <a:rPr lang="de-DE"/>
              <a:t> and </a:t>
            </a:r>
            <a:r>
              <a:rPr lang="de-DE" err="1"/>
              <a:t>usage</a:t>
            </a:r>
            <a:r>
              <a:rPr lang="de-DE"/>
              <a:t> </a:t>
            </a:r>
            <a:r>
              <a:rPr lang="de-DE" err="1"/>
              <a:t>data</a:t>
            </a:r>
            <a:endParaRPr lang="de-DE"/>
          </a:p>
          <a:p>
            <a:pPr lvl="1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69B371-880E-0333-35BA-7422E482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4</a:t>
            </a:fld>
            <a:endParaRPr lang="en-DE"/>
          </a:p>
        </p:txBody>
      </p:sp>
      <p:pic>
        <p:nvPicPr>
          <p:cNvPr id="9" name="Graphic 8" descr="Bar chart outline">
            <a:extLst>
              <a:ext uri="{FF2B5EF4-FFF2-40B4-BE49-F238E27FC236}">
                <a16:creationId xmlns:a16="http://schemas.microsoft.com/office/drawing/2014/main" id="{71C6CF87-332E-BD0E-2C3F-93E3C13DF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6300" y="5441950"/>
            <a:ext cx="914400" cy="914400"/>
          </a:xfrm>
          <a:prstGeom prst="rect">
            <a:avLst/>
          </a:prstGeom>
        </p:spPr>
      </p:pic>
      <p:pic>
        <p:nvPicPr>
          <p:cNvPr id="17" name="Graphic 16" descr="Workflow outline">
            <a:extLst>
              <a:ext uri="{FF2B5EF4-FFF2-40B4-BE49-F238E27FC236}">
                <a16:creationId xmlns:a16="http://schemas.microsoft.com/office/drawing/2014/main" id="{F80D5A6C-D3F1-AF40-517F-473DB21F7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6300" y="1709738"/>
            <a:ext cx="914400" cy="914400"/>
          </a:xfrm>
          <a:prstGeom prst="rect">
            <a:avLst/>
          </a:prstGeom>
        </p:spPr>
      </p:pic>
      <p:pic>
        <p:nvPicPr>
          <p:cNvPr id="19" name="Graphic 18" descr="Clipboard Partially Crossed outline">
            <a:extLst>
              <a:ext uri="{FF2B5EF4-FFF2-40B4-BE49-F238E27FC236}">
                <a16:creationId xmlns:a16="http://schemas.microsoft.com/office/drawing/2014/main" id="{01274770-50EE-A756-FC86-A2EA496560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300" y="2944812"/>
            <a:ext cx="914400" cy="914400"/>
          </a:xfrm>
          <a:prstGeom prst="rect">
            <a:avLst/>
          </a:prstGeom>
        </p:spPr>
      </p:pic>
      <p:pic>
        <p:nvPicPr>
          <p:cNvPr id="10" name="Graphic 9" descr="Folder Search outline">
            <a:extLst>
              <a:ext uri="{FF2B5EF4-FFF2-40B4-BE49-F238E27FC236}">
                <a16:creationId xmlns:a16="http://schemas.microsoft.com/office/drawing/2014/main" id="{55F707DF-737C-E008-4546-9132C36326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6300" y="42529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25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D8301-DFFA-0377-9F3D-90266A2A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FB8A-AE0A-AC6D-F97B-1A8AD808E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Data Analysis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Overview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1DEC-3983-3CC1-ACB3-9481F79F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650" y="1791738"/>
            <a:ext cx="7054850" cy="4564612"/>
          </a:xfrm>
        </p:spPr>
        <p:txBody>
          <a:bodyPr>
            <a:normAutofit/>
          </a:bodyPr>
          <a:lstStyle/>
          <a:p>
            <a:r>
              <a:rPr lang="de-DE" b="1"/>
              <a:t>Quantitative</a:t>
            </a:r>
          </a:p>
          <a:p>
            <a:pPr lvl="1"/>
            <a:r>
              <a:rPr lang="de-DE" err="1"/>
              <a:t>Conducted</a:t>
            </a:r>
            <a:r>
              <a:rPr lang="de-DE"/>
              <a:t> </a:t>
            </a:r>
            <a:r>
              <a:rPr lang="de-DE" err="1"/>
              <a:t>clickstream</a:t>
            </a:r>
            <a:r>
              <a:rPr lang="de-DE"/>
              <a:t> </a:t>
            </a:r>
            <a:r>
              <a:rPr lang="de-DE" err="1"/>
              <a:t>analysis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map</a:t>
            </a:r>
            <a:r>
              <a:rPr lang="de-DE"/>
              <a:t> </a:t>
            </a:r>
            <a:r>
              <a:rPr lang="de-DE" err="1"/>
              <a:t>navigation</a:t>
            </a:r>
            <a:r>
              <a:rPr lang="de-DE"/>
              <a:t> </a:t>
            </a:r>
            <a:r>
              <a:rPr lang="de-DE" err="1"/>
              <a:t>paths</a:t>
            </a:r>
            <a:endParaRPr lang="de-DE"/>
          </a:p>
          <a:p>
            <a:pPr lvl="1"/>
            <a:r>
              <a:rPr lang="de-DE" err="1"/>
              <a:t>Identified</a:t>
            </a:r>
            <a:r>
              <a:rPr lang="de-DE"/>
              <a:t> redundant </a:t>
            </a:r>
            <a:r>
              <a:rPr lang="de-DE" err="1"/>
              <a:t>steps</a:t>
            </a:r>
            <a:r>
              <a:rPr lang="de-DE"/>
              <a:t> in </a:t>
            </a:r>
            <a:r>
              <a:rPr lang="de-DE" err="1"/>
              <a:t>workflow</a:t>
            </a:r>
            <a:endParaRPr lang="de-DE"/>
          </a:p>
          <a:p>
            <a:pPr lvl="1"/>
            <a:endParaRPr lang="de-DE" b="1"/>
          </a:p>
          <a:p>
            <a:pPr lvl="1"/>
            <a:endParaRPr lang="de-DE" b="1"/>
          </a:p>
          <a:p>
            <a:r>
              <a:rPr lang="de-DE" b="1"/>
              <a:t>Qualitative</a:t>
            </a:r>
          </a:p>
          <a:p>
            <a:pPr lvl="1"/>
            <a:r>
              <a:rPr lang="de-DE" err="1"/>
              <a:t>Analyzed</a:t>
            </a:r>
            <a:r>
              <a:rPr lang="de-DE"/>
              <a:t> </a:t>
            </a:r>
            <a:r>
              <a:rPr lang="de-DE" err="1"/>
              <a:t>feedback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5 </a:t>
            </a:r>
            <a:r>
              <a:rPr lang="de-DE" err="1"/>
              <a:t>patients</a:t>
            </a:r>
            <a:r>
              <a:rPr lang="de-DE"/>
              <a:t> and 2 </a:t>
            </a:r>
            <a:r>
              <a:rPr lang="de-DE" err="1"/>
              <a:t>physicians</a:t>
            </a:r>
            <a:endParaRPr lang="de-DE"/>
          </a:p>
          <a:p>
            <a:pPr lvl="1"/>
            <a:r>
              <a:rPr lang="de-DE" err="1"/>
              <a:t>Identified</a:t>
            </a:r>
            <a:r>
              <a:rPr lang="de-DE"/>
              <a:t> emotional </a:t>
            </a:r>
            <a:r>
              <a:rPr lang="de-DE" err="1"/>
              <a:t>frustrations</a:t>
            </a:r>
            <a:r>
              <a:rPr lang="de-DE"/>
              <a:t> and </a:t>
            </a:r>
            <a:r>
              <a:rPr lang="de-DE" err="1"/>
              <a:t>confusions</a:t>
            </a:r>
            <a:endParaRPr lang="de-DE"/>
          </a:p>
          <a:p>
            <a:pPr marL="457200" lvl="1" indent="0">
              <a:buNone/>
            </a:pPr>
            <a:endParaRPr lang="de-DE"/>
          </a:p>
          <a:p>
            <a:pPr marL="457200" lvl="1" indent="0">
              <a:buNone/>
            </a:pPr>
            <a:endParaRPr lang="de-DE"/>
          </a:p>
          <a:p>
            <a:r>
              <a:rPr lang="de-DE" b="1"/>
              <a:t>Developer Input</a:t>
            </a:r>
          </a:p>
          <a:p>
            <a:pPr lvl="1"/>
            <a:r>
              <a:rPr lang="de-DE" err="1"/>
              <a:t>Validated</a:t>
            </a:r>
            <a:r>
              <a:rPr lang="de-DE"/>
              <a:t> </a:t>
            </a:r>
            <a:r>
              <a:rPr lang="de-DE" err="1"/>
              <a:t>findings</a:t>
            </a:r>
            <a:r>
              <a:rPr lang="de-DE"/>
              <a:t> and </a:t>
            </a:r>
            <a:r>
              <a:rPr lang="de-DE" err="1"/>
              <a:t>possibilities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software</a:t>
            </a:r>
            <a:r>
              <a:rPr lang="de-DE"/>
              <a:t> firm</a:t>
            </a:r>
          </a:p>
          <a:p>
            <a:pPr lvl="1"/>
            <a:r>
              <a:rPr lang="de-DE" err="1"/>
              <a:t>Analyzed</a:t>
            </a:r>
            <a:r>
              <a:rPr lang="de-DE"/>
              <a:t> </a:t>
            </a:r>
            <a:r>
              <a:rPr lang="de-DE" err="1"/>
              <a:t>technical</a:t>
            </a:r>
            <a:r>
              <a:rPr lang="de-DE"/>
              <a:t> </a:t>
            </a:r>
            <a:r>
              <a:rPr lang="de-DE" err="1"/>
              <a:t>metadata</a:t>
            </a:r>
            <a:endParaRPr lang="de-DE"/>
          </a:p>
          <a:p>
            <a:pPr lvl="1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E2FC60-1884-572C-3455-E19EAC8F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5</a:t>
            </a:fld>
            <a:endParaRPr lang="en-DE"/>
          </a:p>
        </p:txBody>
      </p:sp>
      <p:pic>
        <p:nvPicPr>
          <p:cNvPr id="10" name="Graphic 9" descr="Gears outline">
            <a:extLst>
              <a:ext uri="{FF2B5EF4-FFF2-40B4-BE49-F238E27FC236}">
                <a16:creationId xmlns:a16="http://schemas.microsoft.com/office/drawing/2014/main" id="{26D1E146-BD0F-0AC2-DD29-A24429ADC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4914900"/>
            <a:ext cx="914400" cy="914400"/>
          </a:xfrm>
          <a:prstGeom prst="rect">
            <a:avLst/>
          </a:prstGeom>
        </p:spPr>
      </p:pic>
      <p:pic>
        <p:nvPicPr>
          <p:cNvPr id="20" name="Graphic 19" descr="Rating Star outline">
            <a:extLst>
              <a:ext uri="{FF2B5EF4-FFF2-40B4-BE49-F238E27FC236}">
                <a16:creationId xmlns:a16="http://schemas.microsoft.com/office/drawing/2014/main" id="{B49CCCEA-403A-1207-EAF7-4DFED1AC08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040" y="3353319"/>
            <a:ext cx="914400" cy="914400"/>
          </a:xfrm>
          <a:prstGeom prst="rect">
            <a:avLst/>
          </a:prstGeom>
        </p:spPr>
      </p:pic>
      <p:pic>
        <p:nvPicPr>
          <p:cNvPr id="9" name="Graphic 8" descr="Cursor outline">
            <a:extLst>
              <a:ext uri="{FF2B5EF4-FFF2-40B4-BE49-F238E27FC236}">
                <a16:creationId xmlns:a16="http://schemas.microsoft.com/office/drawing/2014/main" id="{B9BE4906-E4AA-07FB-ABF7-DBE138673A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" y="19311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70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3814-953E-5A77-AB7B-E366A45C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8B196-9CBA-CA28-C905-DB6FA8CA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de-DE">
                <a:solidFill>
                  <a:srgbClr val="14365E"/>
                </a:solidFill>
              </a:rPr>
              <a:t>Patient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46CC2-FF96-90E5-C87C-3F65A5DF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22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154BB-708E-3871-4F4C-C9D81523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C2A1-D15A-4D3F-3505-787DFF98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Patient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FAB59-CC72-F2AF-0DB8-EC3FB57D7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873750" cy="2265912"/>
          </a:xfrm>
        </p:spPr>
        <p:txBody>
          <a:bodyPr>
            <a:normAutofit/>
          </a:bodyPr>
          <a:lstStyle/>
          <a:p>
            <a:r>
              <a:rPr lang="de-DE" b="1"/>
              <a:t>Mobile Failure</a:t>
            </a:r>
          </a:p>
          <a:p>
            <a:pPr lvl="1"/>
            <a:r>
              <a:rPr lang="de-DE"/>
              <a:t>Interface does not adapt to mobile screens</a:t>
            </a:r>
          </a:p>
          <a:p>
            <a:pPr lvl="1"/>
            <a:r>
              <a:rPr lang="de-DE"/>
              <a:t>Questionaires and buttons are cut off</a:t>
            </a:r>
          </a:p>
          <a:p>
            <a:pPr lvl="1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549E72-E7C6-4882-7738-2E836B11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7</a:t>
            </a:fld>
            <a:endParaRPr lang="en-DE"/>
          </a:p>
        </p:txBody>
      </p:sp>
      <p:pic>
        <p:nvPicPr>
          <p:cNvPr id="16" name="Picture 15" descr="A screenshot of a phone&#10;&#10;AI-generated content may be incorrect.">
            <a:extLst>
              <a:ext uri="{FF2B5EF4-FFF2-40B4-BE49-F238E27FC236}">
                <a16:creationId xmlns:a16="http://schemas.microsoft.com/office/drawing/2014/main" id="{6118CB48-8F31-7CD8-E94E-BD9A69C5B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547" y="1497804"/>
            <a:ext cx="2218753" cy="4858546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80922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0FB56-4E4E-4402-3547-1A622E64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1781-01D3-133C-451A-5BDAE8A1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Patient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5179-4C61-5315-0978-B67863E27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873750" cy="2265912"/>
          </a:xfrm>
        </p:spPr>
        <p:txBody>
          <a:bodyPr>
            <a:normAutofit/>
          </a:bodyPr>
          <a:lstStyle/>
          <a:p>
            <a:r>
              <a:rPr lang="de-DE" b="1"/>
              <a:t>Mobile Failure</a:t>
            </a:r>
          </a:p>
          <a:p>
            <a:pPr lvl="1"/>
            <a:r>
              <a:rPr lang="de-DE"/>
              <a:t>Interface does not adapt to mobile screens</a:t>
            </a:r>
          </a:p>
          <a:p>
            <a:pPr lvl="1"/>
            <a:r>
              <a:rPr lang="de-DE"/>
              <a:t>Questionaires and buttons are cut off</a:t>
            </a:r>
          </a:p>
          <a:p>
            <a:r>
              <a:rPr lang="de-DE" b="1"/>
              <a:t>Status Confusion</a:t>
            </a:r>
          </a:p>
          <a:p>
            <a:pPr lvl="1"/>
            <a:r>
              <a:rPr lang="de-DE"/>
              <a:t>Completed questionaires aren‘t clearly marked</a:t>
            </a:r>
          </a:p>
          <a:p>
            <a:pPr lvl="1"/>
            <a:r>
              <a:rPr lang="de-DE"/>
              <a:t>Users reoped them unnecessarily</a:t>
            </a:r>
          </a:p>
          <a:p>
            <a:pPr lvl="1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9A84A3-5869-C748-D6CC-7E3512BA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8</a:t>
            </a:fld>
            <a:endParaRPr lang="en-DE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684C2A-D376-83F9-9991-CF3AD527F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207" y="1471612"/>
            <a:ext cx="3926737" cy="2364338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126A60-A837-57D1-E6A3-8BE43F033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34"/>
          <a:stretch>
            <a:fillRect/>
          </a:stretch>
        </p:blipFill>
        <p:spPr>
          <a:xfrm>
            <a:off x="6988177" y="4515522"/>
            <a:ext cx="4614074" cy="155654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C3DF83-2775-8C75-18D1-7EB52A57BEBB}"/>
              </a:ext>
            </a:extLst>
          </p:cNvPr>
          <p:cNvCxnSpPr>
            <a:cxnSpLocks/>
          </p:cNvCxnSpPr>
          <p:nvPr/>
        </p:nvCxnSpPr>
        <p:spPr>
          <a:xfrm>
            <a:off x="9248926" y="3864128"/>
            <a:ext cx="20888" cy="541184"/>
          </a:xfrm>
          <a:prstGeom prst="straightConnector1">
            <a:avLst/>
          </a:prstGeom>
          <a:ln w="730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02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FCEFB-97DF-7FF7-0AC2-048B9371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01F7-0180-0949-009E-7C845815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Patient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5A7D7-8858-00E7-DA9F-B33B97EE7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873750" cy="4329112"/>
          </a:xfrm>
        </p:spPr>
        <p:txBody>
          <a:bodyPr>
            <a:normAutofit/>
          </a:bodyPr>
          <a:lstStyle/>
          <a:p>
            <a:r>
              <a:rPr lang="de-DE" b="1"/>
              <a:t>Mobile Failure</a:t>
            </a:r>
          </a:p>
          <a:p>
            <a:pPr lvl="1"/>
            <a:r>
              <a:rPr lang="de-DE"/>
              <a:t>Interface does not adapt to mobile screens</a:t>
            </a:r>
          </a:p>
          <a:p>
            <a:pPr lvl="1"/>
            <a:r>
              <a:rPr lang="de-DE"/>
              <a:t>Questionaires and buttons are cut off</a:t>
            </a:r>
          </a:p>
          <a:p>
            <a:r>
              <a:rPr lang="de-DE" b="1"/>
              <a:t>Status Confusion</a:t>
            </a:r>
          </a:p>
          <a:p>
            <a:pPr lvl="1"/>
            <a:r>
              <a:rPr lang="de-DE"/>
              <a:t>Completed questionaires aren‘t clearly marked</a:t>
            </a:r>
          </a:p>
          <a:p>
            <a:pPr lvl="1"/>
            <a:r>
              <a:rPr lang="de-DE"/>
              <a:t>Users reoped them unnecessarily</a:t>
            </a:r>
          </a:p>
          <a:p>
            <a:pPr marL="457200" lvl="1" indent="0">
              <a:buNone/>
            </a:pPr>
            <a:endParaRPr lang="de-DE"/>
          </a:p>
          <a:p>
            <a:pPr marL="457200" lvl="1" indent="0">
              <a:buNone/>
            </a:pPr>
            <a:endParaRPr lang="de-DE"/>
          </a:p>
          <a:p>
            <a:r>
              <a:rPr lang="de-DE" b="1">
                <a:solidFill>
                  <a:srgbClr val="00B050"/>
                </a:solidFill>
              </a:rPr>
              <a:t>Solution</a:t>
            </a:r>
          </a:p>
          <a:p>
            <a:pPr lvl="1"/>
            <a:r>
              <a:rPr lang="de-DE"/>
              <a:t>Mobile-optimized layout with large touch targets</a:t>
            </a:r>
          </a:p>
          <a:p>
            <a:pPr lvl="1"/>
            <a:r>
              <a:rPr lang="de-DE"/>
              <a:t>Clear status indication using badges and progress bars</a:t>
            </a:r>
          </a:p>
          <a:p>
            <a:pPr lvl="1"/>
            <a:r>
              <a:rPr lang="de-DE"/>
              <a:t>Noticeable colors for due date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735529-6272-0C94-FAAD-25570BC8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9</a:t>
            </a:fld>
            <a:endParaRPr lang="en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435910-ABA9-1566-8E78-FA7FA56B4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51756" y="1395934"/>
            <a:ext cx="2416213" cy="47556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2450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2289-5F98-A5AC-D8CE-BED9459D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B1A8-2EC4-48CF-1D5B-C8908B32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Patient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BD0D9-34D4-EA02-4A37-F9E0D7B5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334000" cy="4532312"/>
          </a:xfrm>
        </p:spPr>
        <p:txBody>
          <a:bodyPr>
            <a:normAutofit/>
          </a:bodyPr>
          <a:lstStyle/>
          <a:p>
            <a:r>
              <a:rPr lang="de-DE" b="1"/>
              <a:t>Lack of Feedback</a:t>
            </a:r>
          </a:p>
          <a:p>
            <a:pPr lvl="1"/>
            <a:r>
              <a:rPr lang="de-DE"/>
              <a:t>Patients are unsure if they completed a task</a:t>
            </a:r>
          </a:p>
          <a:p>
            <a:pPr lvl="1"/>
            <a:r>
              <a:rPr lang="de-DE"/>
              <a:t>Submission of questionaire leads to blank page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5DE3B5-0133-BF1A-7FE6-F50CED4A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10</a:t>
            </a:fld>
            <a:endParaRPr lang="en-DE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EB6FC9-01FD-2A95-993F-1E0B7B7D2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090" y="2282825"/>
            <a:ext cx="4429710" cy="3348037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220654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0A6D-8831-00C4-BAF4-110F4EFA7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C37A-AAA0-9D45-F20E-0B739A70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Patient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54713-BC04-FE37-1A2A-B3AE4AF0F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257800" cy="4532312"/>
          </a:xfrm>
        </p:spPr>
        <p:txBody>
          <a:bodyPr>
            <a:normAutofit/>
          </a:bodyPr>
          <a:lstStyle/>
          <a:p>
            <a:r>
              <a:rPr lang="de-DE" b="1"/>
              <a:t>Lack </a:t>
            </a:r>
            <a:r>
              <a:rPr lang="de-DE" b="1" err="1"/>
              <a:t>of</a:t>
            </a:r>
            <a:r>
              <a:rPr lang="de-DE" b="1"/>
              <a:t> Feedback</a:t>
            </a:r>
          </a:p>
          <a:p>
            <a:pPr lvl="1"/>
            <a:r>
              <a:rPr lang="de-DE" err="1"/>
              <a:t>Patients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unsure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they</a:t>
            </a:r>
            <a:r>
              <a:rPr lang="de-DE"/>
              <a:t> </a:t>
            </a:r>
            <a:r>
              <a:rPr lang="de-DE" err="1"/>
              <a:t>completed</a:t>
            </a:r>
            <a:r>
              <a:rPr lang="de-DE"/>
              <a:t> a </a:t>
            </a:r>
            <a:r>
              <a:rPr lang="de-DE" err="1"/>
              <a:t>task</a:t>
            </a:r>
            <a:endParaRPr lang="de-DE"/>
          </a:p>
          <a:p>
            <a:pPr lvl="1"/>
            <a:r>
              <a:rPr lang="de-DE"/>
              <a:t>Submission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questionaire</a:t>
            </a:r>
            <a:r>
              <a:rPr lang="de-DE"/>
              <a:t> </a:t>
            </a:r>
            <a:r>
              <a:rPr lang="de-DE" err="1"/>
              <a:t>leads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blank </a:t>
            </a:r>
            <a:r>
              <a:rPr lang="de-DE" err="1"/>
              <a:t>page</a:t>
            </a:r>
            <a:endParaRPr lang="de-DE"/>
          </a:p>
          <a:p>
            <a:pPr lvl="1"/>
            <a:endParaRPr lang="de-DE"/>
          </a:p>
          <a:p>
            <a:pPr lvl="1"/>
            <a:endParaRPr lang="de-DE"/>
          </a:p>
          <a:p>
            <a:r>
              <a:rPr lang="de-DE" b="1">
                <a:solidFill>
                  <a:srgbClr val="00B050"/>
                </a:solidFill>
              </a:rPr>
              <a:t>Solution</a:t>
            </a:r>
          </a:p>
          <a:p>
            <a:pPr lvl="1"/>
            <a:r>
              <a:rPr lang="de-DE" err="1"/>
              <a:t>Confirmation</a:t>
            </a:r>
            <a:r>
              <a:rPr lang="de-DE"/>
              <a:t> at </a:t>
            </a:r>
            <a:r>
              <a:rPr lang="de-DE" err="1"/>
              <a:t>the</a:t>
            </a:r>
            <a:r>
              <a:rPr lang="de-DE"/>
              <a:t> end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br>
              <a:rPr lang="de-DE"/>
            </a:br>
            <a:r>
              <a:rPr lang="de-DE" err="1"/>
              <a:t>questionaire</a:t>
            </a:r>
            <a:endParaRPr lang="de-DE"/>
          </a:p>
          <a:p>
            <a:pPr lvl="1"/>
            <a:r>
              <a:rPr lang="de-DE"/>
              <a:t>Button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navigate</a:t>
            </a:r>
            <a:r>
              <a:rPr lang="de-DE"/>
              <a:t> back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br>
              <a:rPr lang="de-DE"/>
            </a:br>
            <a:r>
              <a:rPr lang="de-DE" err="1"/>
              <a:t>overview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D52A03-5334-CD7F-9A45-857C8C98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11</a:t>
            </a:fld>
            <a:endParaRPr lang="en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8B448C-4ABB-F36F-F1AC-B0D725E82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325371"/>
            <a:ext cx="5731625" cy="32248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0418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778F-CA82-8A13-6DDF-0DD6C119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7146-DF64-B4F2-FFEE-58B75E46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Patient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928C8-43A1-65E0-4139-DA6712B8F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048250" cy="4532312"/>
          </a:xfrm>
        </p:spPr>
        <p:txBody>
          <a:bodyPr>
            <a:normAutofit/>
          </a:bodyPr>
          <a:lstStyle/>
          <a:p>
            <a:r>
              <a:rPr lang="de-DE" b="1"/>
              <a:t>Tedious Questionaire</a:t>
            </a:r>
          </a:p>
          <a:p>
            <a:pPr lvl="1"/>
            <a:r>
              <a:rPr lang="de-DE"/>
              <a:t>Medication names needs to be typed manually</a:t>
            </a:r>
          </a:p>
          <a:p>
            <a:pPr lvl="1"/>
            <a:r>
              <a:rPr lang="de-DE"/>
              <a:t>No indication of progress inside questionaires</a:t>
            </a:r>
          </a:p>
          <a:p>
            <a:pPr lvl="1"/>
            <a:r>
              <a:rPr lang="de-DE"/>
              <a:t>Navigation to specific sections cumbersome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04F302-4662-1801-C40E-6062D3F5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12</a:t>
            </a:fld>
            <a:endParaRPr lang="en-DE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D2F43D-DE5A-9C36-B3A1-1DE622D25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0" r="20306"/>
          <a:stretch>
            <a:fillRect/>
          </a:stretch>
        </p:blipFill>
        <p:spPr>
          <a:xfrm>
            <a:off x="6305552" y="1988803"/>
            <a:ext cx="4953001" cy="39360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2334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F7662-ED41-0239-8F36-6FD7872E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2A5F-2889-CCEB-48AA-96BDB40E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Patient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669AB-6639-B64B-AACE-F73B7201B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048250" cy="4532312"/>
          </a:xfrm>
        </p:spPr>
        <p:txBody>
          <a:bodyPr>
            <a:normAutofit/>
          </a:bodyPr>
          <a:lstStyle/>
          <a:p>
            <a:r>
              <a:rPr lang="de-DE" b="1"/>
              <a:t>Tedious Questionaire</a:t>
            </a:r>
          </a:p>
          <a:p>
            <a:pPr lvl="1"/>
            <a:r>
              <a:rPr lang="de-DE"/>
              <a:t>Medication names needs to be typed manually</a:t>
            </a:r>
          </a:p>
          <a:p>
            <a:pPr lvl="1"/>
            <a:r>
              <a:rPr lang="de-DE"/>
              <a:t>No indication of progress inside questionaires</a:t>
            </a:r>
          </a:p>
          <a:p>
            <a:pPr lvl="1"/>
            <a:r>
              <a:rPr lang="de-DE"/>
              <a:t>Navigation to specific sections cumbersome</a:t>
            </a:r>
          </a:p>
          <a:p>
            <a:pPr lvl="1"/>
            <a:endParaRPr lang="de-DE"/>
          </a:p>
          <a:p>
            <a:pPr lvl="1"/>
            <a:endParaRPr lang="de-DE"/>
          </a:p>
          <a:p>
            <a:r>
              <a:rPr lang="de-DE" b="1">
                <a:solidFill>
                  <a:srgbClr val="00B050"/>
                </a:solidFill>
              </a:rPr>
              <a:t>Solution</a:t>
            </a:r>
          </a:p>
          <a:p>
            <a:pPr lvl="1"/>
            <a:r>
              <a:rPr lang="de-DE"/>
              <a:t>Autocompletion for common medication names</a:t>
            </a:r>
          </a:p>
          <a:p>
            <a:pPr lvl="1"/>
            <a:r>
              <a:rPr lang="de-DE"/>
              <a:t>Clickable navigation bar with completion status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4CC032-C176-2B9C-E8EE-77CD1B47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13</a:t>
            </a:fld>
            <a:endParaRPr lang="en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B7BEC-B770-6B30-7EBE-F3AD3B0D1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2537" y="2087164"/>
            <a:ext cx="6176125" cy="34749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397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6C47-6FCB-2F94-AF34-5C534F1B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C0D9-3D81-1F6B-5167-44129987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de-DE" err="1">
                <a:solidFill>
                  <a:srgbClr val="14365E"/>
                </a:solidFill>
              </a:rPr>
              <a:t>Physician</a:t>
            </a:r>
            <a:r>
              <a:rPr lang="de-DE">
                <a:solidFill>
                  <a:srgbClr val="14365E"/>
                </a:solidFill>
              </a:rPr>
              <a:t>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D222B0-247C-F4CB-7BFF-27098062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14</a:t>
            </a:fld>
            <a:endParaRPr lang="en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8779794-81DB-6056-7829-410EE2CBE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0" y="6582975"/>
            <a:ext cx="5048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Icons from www.flaticon.com </a:t>
            </a:r>
          </a:p>
        </p:txBody>
      </p:sp>
    </p:spTree>
    <p:extLst>
      <p:ext uri="{BB962C8B-B14F-4D97-AF65-F5344CB8AC3E}">
        <p14:creationId xmlns:p14="http://schemas.microsoft.com/office/powerpoint/2010/main" val="113206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AC76-AD75-F6FD-2D19-C3E0087D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5">
            <a:extLst>
              <a:ext uri="{FF2B5EF4-FFF2-40B4-BE49-F238E27FC236}">
                <a16:creationId xmlns:a16="http://schemas.microsoft.com/office/drawing/2014/main" id="{68E4A5D9-AF36-94C0-5117-527CD892B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36532" y="1924050"/>
            <a:ext cx="6151478" cy="37599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C1ECA7-3E93-68DD-9C6C-B86D2371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Physician</a:t>
            </a:r>
            <a:r>
              <a:rPr lang="de-DE">
                <a:solidFill>
                  <a:srgbClr val="14365E"/>
                </a:solidFill>
              </a:rPr>
              <a:t>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3E7B-E09B-5A10-A140-959583F07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698332" cy="4532312"/>
          </a:xfrm>
        </p:spPr>
        <p:txBody>
          <a:bodyPr>
            <a:normAutofit/>
          </a:bodyPr>
          <a:lstStyle/>
          <a:p>
            <a:r>
              <a:rPr lang="de-DE" b="1" err="1"/>
              <a:t>Complex</a:t>
            </a:r>
            <a:r>
              <a:rPr lang="de-DE" b="1"/>
              <a:t> Navigation</a:t>
            </a:r>
            <a:endParaRPr lang="en-DE"/>
          </a:p>
          <a:p>
            <a:pPr lvl="1"/>
            <a:r>
              <a:rPr lang="de-DE"/>
              <a:t>Features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hidden</a:t>
            </a:r>
            <a:r>
              <a:rPr lang="de-DE"/>
              <a:t> in </a:t>
            </a:r>
            <a:r>
              <a:rPr lang="de-DE" err="1"/>
              <a:t>seperate</a:t>
            </a:r>
            <a:r>
              <a:rPr lang="de-DE"/>
              <a:t> </a:t>
            </a:r>
            <a:r>
              <a:rPr lang="de-DE" err="1"/>
              <a:t>categories</a:t>
            </a:r>
            <a:endParaRPr lang="en-DE"/>
          </a:p>
          <a:p>
            <a:pPr lvl="1"/>
            <a:r>
              <a:rPr lang="de-DE"/>
              <a:t>„New Patient“ </a:t>
            </a:r>
            <a:r>
              <a:rPr lang="de-DE" err="1"/>
              <a:t>button</a:t>
            </a:r>
            <a:r>
              <a:rPr lang="de-DE"/>
              <a:t> at unexpected location</a:t>
            </a:r>
            <a:endParaRPr lang="en-DE">
              <a:effectLst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1F9465-4CB7-B69B-159E-60167DF0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7484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3A21-6AAB-4491-D07C-0D79D20D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7D17-92B9-981A-C76F-56536F56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Physician</a:t>
            </a:r>
            <a:r>
              <a:rPr lang="de-DE">
                <a:solidFill>
                  <a:srgbClr val="14365E"/>
                </a:solidFill>
              </a:rPr>
              <a:t>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2796E-D5F5-00C3-A243-2D52B9F7C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652645" cy="4532312"/>
          </a:xfrm>
        </p:spPr>
        <p:txBody>
          <a:bodyPr>
            <a:normAutofit/>
          </a:bodyPr>
          <a:lstStyle/>
          <a:p>
            <a:r>
              <a:rPr lang="de-DE" b="1" err="1"/>
              <a:t>Complex</a:t>
            </a:r>
            <a:r>
              <a:rPr lang="de-DE" b="1"/>
              <a:t> Navigation</a:t>
            </a:r>
            <a:endParaRPr lang="en-DE"/>
          </a:p>
          <a:p>
            <a:pPr lvl="1"/>
            <a:r>
              <a:rPr lang="de-DE"/>
              <a:t>Features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hidden</a:t>
            </a:r>
            <a:r>
              <a:rPr lang="de-DE"/>
              <a:t> in </a:t>
            </a:r>
            <a:r>
              <a:rPr lang="de-DE" err="1"/>
              <a:t>seperate</a:t>
            </a:r>
            <a:r>
              <a:rPr lang="de-DE"/>
              <a:t> </a:t>
            </a:r>
            <a:r>
              <a:rPr lang="de-DE" err="1"/>
              <a:t>categories</a:t>
            </a:r>
            <a:endParaRPr lang="en-DE"/>
          </a:p>
          <a:p>
            <a:pPr lvl="1"/>
            <a:r>
              <a:rPr lang="de-DE"/>
              <a:t>„New Patient“ </a:t>
            </a:r>
            <a:r>
              <a:rPr lang="de-DE" err="1"/>
              <a:t>button</a:t>
            </a:r>
            <a:r>
              <a:rPr lang="de-DE"/>
              <a:t> at unexpected location</a:t>
            </a:r>
            <a:endParaRPr lang="en-DE"/>
          </a:p>
          <a:p>
            <a:pPr lvl="1"/>
            <a:endParaRPr lang="de-DE"/>
          </a:p>
          <a:p>
            <a:pPr lvl="1"/>
            <a:endParaRPr lang="de-DE"/>
          </a:p>
          <a:p>
            <a:r>
              <a:rPr lang="de-DE" b="1">
                <a:solidFill>
                  <a:srgbClr val="00B050"/>
                </a:solidFill>
              </a:rPr>
              <a:t>Solution</a:t>
            </a:r>
          </a:p>
          <a:p>
            <a:pPr lvl="1"/>
            <a:r>
              <a:rPr lang="de-DE" err="1"/>
              <a:t>Moved</a:t>
            </a:r>
            <a:r>
              <a:rPr lang="de-DE"/>
              <a:t> „New Patient“ </a:t>
            </a:r>
            <a:r>
              <a:rPr lang="de-DE" err="1"/>
              <a:t>button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navigation</a:t>
            </a:r>
            <a:r>
              <a:rPr lang="de-DE"/>
              <a:t> bar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patient</a:t>
            </a:r>
            <a:r>
              <a:rPr lang="de-DE"/>
              <a:t> </a:t>
            </a:r>
            <a:r>
              <a:rPr lang="de-DE" err="1"/>
              <a:t>list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85BEF2-E6E3-0C86-9952-B931C4AD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16</a:t>
            </a:fld>
            <a:endParaRPr lang="en-DE"/>
          </a:p>
        </p:txBody>
      </p:sp>
      <p:pic>
        <p:nvPicPr>
          <p:cNvPr id="6" name="Grafik 10">
            <a:extLst>
              <a:ext uri="{FF2B5EF4-FFF2-40B4-BE49-F238E27FC236}">
                <a16:creationId xmlns:a16="http://schemas.microsoft.com/office/drawing/2014/main" id="{0CC7CEFE-8DE1-4A3D-F8E5-8F2EFE407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1722" y="1899602"/>
            <a:ext cx="6386221" cy="35931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7781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C25C-453B-C67C-4DB6-2F36FAEE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D83E-28B6-2B22-40C8-25397D8F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Physician</a:t>
            </a:r>
            <a:r>
              <a:rPr lang="de-DE">
                <a:solidFill>
                  <a:srgbClr val="14365E"/>
                </a:solidFill>
              </a:rPr>
              <a:t>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9125C-7420-1D14-D279-C5675416E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698332" cy="4532312"/>
          </a:xfrm>
        </p:spPr>
        <p:txBody>
          <a:bodyPr>
            <a:normAutofit/>
          </a:bodyPr>
          <a:lstStyle/>
          <a:p>
            <a:r>
              <a:rPr lang="de-DE" b="1"/>
              <a:t>Hidden &amp; </a:t>
            </a:r>
            <a:r>
              <a:rPr lang="de-DE" b="1" err="1"/>
              <a:t>Complicated</a:t>
            </a:r>
            <a:r>
              <a:rPr lang="de-DE" b="1"/>
              <a:t> Tools</a:t>
            </a:r>
            <a:endParaRPr lang="en-DE"/>
          </a:p>
          <a:p>
            <a:pPr lvl="1"/>
            <a:r>
              <a:rPr lang="en-US"/>
              <a:t>Advanced filtering options are buried in submenus</a:t>
            </a:r>
          </a:p>
          <a:p>
            <a:pPr lvl="1"/>
            <a:r>
              <a:rPr lang="en-US">
                <a:effectLst/>
              </a:rPr>
              <a:t>Filtering usage is very technical</a:t>
            </a:r>
            <a:endParaRPr lang="en-DE">
              <a:effectLst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AD6CEB-C831-C68C-39AE-C3EE6403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17</a:t>
            </a:fld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E852E6-A955-5F0A-6626-26F51F4F9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66838"/>
            <a:ext cx="4601887" cy="453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5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BCB1-5D37-E41C-2438-887EA115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>
            <a:extLst>
              <a:ext uri="{FF2B5EF4-FFF2-40B4-BE49-F238E27FC236}">
                <a16:creationId xmlns:a16="http://schemas.microsoft.com/office/drawing/2014/main" id="{5B287F25-E5D5-2F69-5C19-2C3157BE1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1" t="12023" r="26523" b="39122"/>
          <a:stretch>
            <a:fillRect/>
          </a:stretch>
        </p:blipFill>
        <p:spPr>
          <a:xfrm>
            <a:off x="6096000" y="2124374"/>
            <a:ext cx="5213351" cy="32953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13B234-670E-004C-EE93-77AFFBA8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Physician</a:t>
            </a:r>
            <a:r>
              <a:rPr lang="de-DE">
                <a:solidFill>
                  <a:srgbClr val="14365E"/>
                </a:solidFill>
              </a:rPr>
              <a:t>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185B-3312-EF0C-00B7-DD5693864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698332" cy="4532312"/>
          </a:xfrm>
        </p:spPr>
        <p:txBody>
          <a:bodyPr>
            <a:normAutofit/>
          </a:bodyPr>
          <a:lstStyle/>
          <a:p>
            <a:r>
              <a:rPr lang="de-DE" b="1"/>
              <a:t>Hidden &amp; </a:t>
            </a:r>
            <a:r>
              <a:rPr lang="de-DE" b="1" err="1"/>
              <a:t>Complicated</a:t>
            </a:r>
            <a:r>
              <a:rPr lang="de-DE" b="1"/>
              <a:t> Tools</a:t>
            </a:r>
            <a:endParaRPr lang="en-DE"/>
          </a:p>
          <a:p>
            <a:pPr lvl="1"/>
            <a:r>
              <a:rPr lang="en-US"/>
              <a:t>Advanced filtering options are buried in submenus</a:t>
            </a:r>
          </a:p>
          <a:p>
            <a:pPr lvl="1"/>
            <a:r>
              <a:rPr lang="en-US">
                <a:effectLst/>
              </a:rPr>
              <a:t>Filtering usage is very technical</a:t>
            </a:r>
          </a:p>
          <a:p>
            <a:endParaRPr lang="en-US"/>
          </a:p>
          <a:p>
            <a:endParaRPr lang="en-US">
              <a:effectLst/>
            </a:endParaRPr>
          </a:p>
          <a:p>
            <a:r>
              <a:rPr lang="de-DE" b="1">
                <a:solidFill>
                  <a:srgbClr val="00B050"/>
                </a:solidFill>
              </a:rPr>
              <a:t>Solution</a:t>
            </a:r>
          </a:p>
          <a:p>
            <a:pPr lvl="1"/>
            <a:r>
              <a:rPr lang="de-DE"/>
              <a:t>Quick </a:t>
            </a:r>
            <a:r>
              <a:rPr lang="de-DE" err="1"/>
              <a:t>filters</a:t>
            </a:r>
            <a:r>
              <a:rPr lang="de-DE"/>
              <a:t> </a:t>
            </a:r>
            <a:r>
              <a:rPr lang="de-DE" err="1"/>
              <a:t>allow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fast </a:t>
            </a:r>
            <a:r>
              <a:rPr lang="de-DE" err="1"/>
              <a:t>sorting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most</a:t>
            </a:r>
            <a:r>
              <a:rPr lang="de-DE"/>
              <a:t> </a:t>
            </a:r>
            <a:r>
              <a:rPr lang="de-DE" err="1"/>
              <a:t>important</a:t>
            </a:r>
            <a:r>
              <a:rPr lang="de-DE"/>
              <a:t> </a:t>
            </a:r>
            <a:r>
              <a:rPr lang="de-DE" err="1"/>
              <a:t>categories</a:t>
            </a:r>
            <a:endParaRPr lang="de-DE"/>
          </a:p>
          <a:p>
            <a:pPr lvl="1"/>
            <a:r>
              <a:rPr lang="de-DE" err="1"/>
              <a:t>Advanced</a:t>
            </a:r>
            <a:r>
              <a:rPr lang="de-DE"/>
              <a:t> </a:t>
            </a:r>
            <a:r>
              <a:rPr lang="de-DE" err="1"/>
              <a:t>filters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still </a:t>
            </a:r>
            <a:r>
              <a:rPr lang="de-DE" err="1"/>
              <a:t>available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rightclicking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patient</a:t>
            </a:r>
            <a:r>
              <a:rPr lang="de-DE"/>
              <a:t> </a:t>
            </a:r>
            <a:r>
              <a:rPr lang="de-DE" err="1"/>
              <a:t>table</a:t>
            </a:r>
            <a:endParaRPr lang="de-DE"/>
          </a:p>
          <a:p>
            <a:endParaRPr lang="en-DE">
              <a:effectLst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D647E6-7BFF-B263-FA12-2ECA1AC9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7490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A2B64-68B5-71E9-916C-FD7D010A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6366-776B-57F2-9E71-335D0793F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Physician</a:t>
            </a:r>
            <a:r>
              <a:rPr lang="de-DE">
                <a:solidFill>
                  <a:srgbClr val="14365E"/>
                </a:solidFill>
              </a:rPr>
              <a:t>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C382E-7E91-87A5-BAA5-6FD7B4577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048250" cy="4532312"/>
          </a:xfrm>
        </p:spPr>
        <p:txBody>
          <a:bodyPr>
            <a:normAutofit/>
          </a:bodyPr>
          <a:lstStyle/>
          <a:p>
            <a:r>
              <a:rPr lang="en-US" b="1"/>
              <a:t>Information Clutter</a:t>
            </a:r>
            <a:endParaRPr lang="en-DE"/>
          </a:p>
          <a:p>
            <a:pPr lvl="1"/>
            <a:r>
              <a:rPr lang="en-US"/>
              <a:t>No logical grouping of UI elements</a:t>
            </a:r>
            <a:endParaRPr lang="en-DE"/>
          </a:p>
          <a:p>
            <a:pPr lvl="1"/>
            <a:r>
              <a:rPr lang="de-DE" err="1"/>
              <a:t>Overwhelming</a:t>
            </a:r>
            <a:r>
              <a:rPr lang="de-DE"/>
              <a:t> </a:t>
            </a:r>
            <a:r>
              <a:rPr lang="de-DE" err="1"/>
              <a:t>options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interactable</a:t>
            </a:r>
            <a:r>
              <a:rPr lang="de-DE"/>
              <a:t> </a:t>
            </a:r>
            <a:r>
              <a:rPr lang="de-DE" err="1"/>
              <a:t>features</a:t>
            </a:r>
            <a:endParaRPr lang="de-DE"/>
          </a:p>
          <a:p>
            <a:pPr lvl="1"/>
            <a:r>
              <a:rPr lang="de-DE" err="1">
                <a:effectLst/>
              </a:rPr>
              <a:t>No</a:t>
            </a:r>
            <a:r>
              <a:rPr lang="de-DE">
                <a:effectLst/>
              </a:rPr>
              <a:t> </a:t>
            </a:r>
            <a:r>
              <a:rPr lang="de-DE" err="1">
                <a:effectLst/>
              </a:rPr>
              <a:t>visual</a:t>
            </a:r>
            <a:r>
              <a:rPr lang="de-DE">
                <a:effectLst/>
              </a:rPr>
              <a:t> </a:t>
            </a:r>
            <a:r>
              <a:rPr lang="de-DE" err="1">
                <a:effectLst/>
              </a:rPr>
              <a:t>clarity</a:t>
            </a:r>
            <a:endParaRPr lang="en-DE">
              <a:effectLst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7369D0-7855-4FCC-3B28-37F2683E0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19</a:t>
            </a:fld>
            <a:endParaRPr lang="en-DE"/>
          </a:p>
        </p:txBody>
      </p:sp>
      <p:pic>
        <p:nvPicPr>
          <p:cNvPr id="8" name="Grafik 17">
            <a:extLst>
              <a:ext uri="{FF2B5EF4-FFF2-40B4-BE49-F238E27FC236}">
                <a16:creationId xmlns:a16="http://schemas.microsoft.com/office/drawing/2014/main" id="{5609D589-3B00-3505-D146-FAA68AB2D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50" y="2292112"/>
            <a:ext cx="6040972" cy="332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1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DDF93-B0DE-69B0-096D-0D20D229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1">
            <a:extLst>
              <a:ext uri="{FF2B5EF4-FFF2-40B4-BE49-F238E27FC236}">
                <a16:creationId xmlns:a16="http://schemas.microsoft.com/office/drawing/2014/main" id="{C697E1AE-61CB-2ACF-D945-48B767CF4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90058" y="2377916"/>
            <a:ext cx="5997142" cy="3374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4770C-C09F-63EC-8748-3C957572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Physician</a:t>
            </a:r>
            <a:r>
              <a:rPr lang="de-DE">
                <a:solidFill>
                  <a:srgbClr val="14365E"/>
                </a:solidFill>
              </a:rPr>
              <a:t> </a:t>
            </a:r>
            <a:r>
              <a:rPr lang="en-US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Perspective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361D-3441-6F8A-866F-1CBD1CC03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048250" cy="4532312"/>
          </a:xfrm>
        </p:spPr>
        <p:txBody>
          <a:bodyPr>
            <a:normAutofit/>
          </a:bodyPr>
          <a:lstStyle/>
          <a:p>
            <a:r>
              <a:rPr lang="en-US" b="1"/>
              <a:t>Information Clutter</a:t>
            </a:r>
            <a:endParaRPr lang="en-DE"/>
          </a:p>
          <a:p>
            <a:pPr lvl="1"/>
            <a:r>
              <a:rPr lang="en-US"/>
              <a:t>No logical grouping of UI elements</a:t>
            </a:r>
            <a:endParaRPr lang="en-DE"/>
          </a:p>
          <a:p>
            <a:pPr lvl="1"/>
            <a:r>
              <a:rPr lang="de-DE" err="1"/>
              <a:t>Overwhelming</a:t>
            </a:r>
            <a:r>
              <a:rPr lang="de-DE"/>
              <a:t> </a:t>
            </a:r>
            <a:r>
              <a:rPr lang="de-DE" err="1"/>
              <a:t>options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interactable</a:t>
            </a:r>
            <a:r>
              <a:rPr lang="de-DE"/>
              <a:t> </a:t>
            </a:r>
            <a:r>
              <a:rPr lang="de-DE" err="1"/>
              <a:t>features</a:t>
            </a:r>
            <a:endParaRPr lang="de-DE"/>
          </a:p>
          <a:p>
            <a:pPr lvl="1"/>
            <a:r>
              <a:rPr lang="de-DE" err="1">
                <a:effectLst/>
              </a:rPr>
              <a:t>No</a:t>
            </a:r>
            <a:r>
              <a:rPr lang="de-DE">
                <a:effectLst/>
              </a:rPr>
              <a:t> </a:t>
            </a:r>
            <a:r>
              <a:rPr lang="de-DE" err="1">
                <a:effectLst/>
              </a:rPr>
              <a:t>visual</a:t>
            </a:r>
            <a:r>
              <a:rPr lang="de-DE">
                <a:effectLst/>
              </a:rPr>
              <a:t> </a:t>
            </a:r>
            <a:r>
              <a:rPr lang="de-DE" err="1">
                <a:effectLst/>
              </a:rPr>
              <a:t>clarity</a:t>
            </a:r>
            <a:endParaRPr lang="en-US"/>
          </a:p>
          <a:p>
            <a:endParaRPr lang="en-US">
              <a:effectLst/>
            </a:endParaRPr>
          </a:p>
          <a:p>
            <a:endParaRPr lang="en-US"/>
          </a:p>
          <a:p>
            <a:r>
              <a:rPr lang="de-DE" b="1">
                <a:solidFill>
                  <a:srgbClr val="00B050"/>
                </a:solidFill>
              </a:rPr>
              <a:t>Solution</a:t>
            </a:r>
          </a:p>
          <a:p>
            <a:pPr lvl="1"/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important</a:t>
            </a:r>
            <a:r>
              <a:rPr lang="de-DE"/>
              <a:t> </a:t>
            </a:r>
            <a:r>
              <a:rPr lang="de-DE" err="1"/>
              <a:t>actions</a:t>
            </a:r>
            <a:r>
              <a:rPr lang="de-DE"/>
              <a:t> </a:t>
            </a:r>
            <a:r>
              <a:rPr lang="de-DE" err="1"/>
              <a:t>grouped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reduce</a:t>
            </a:r>
            <a:r>
              <a:rPr lang="de-DE"/>
              <a:t> </a:t>
            </a:r>
            <a:r>
              <a:rPr lang="de-DE" err="1"/>
              <a:t>visual</a:t>
            </a:r>
            <a:r>
              <a:rPr lang="de-DE"/>
              <a:t> </a:t>
            </a:r>
            <a:r>
              <a:rPr lang="de-DE" err="1"/>
              <a:t>clutter</a:t>
            </a:r>
            <a:endParaRPr lang="de-DE"/>
          </a:p>
          <a:p>
            <a:pPr lvl="1"/>
            <a:r>
              <a:rPr lang="de-DE" err="1"/>
              <a:t>Improved</a:t>
            </a:r>
            <a:r>
              <a:rPr lang="de-DE"/>
              <a:t> </a:t>
            </a:r>
            <a:r>
              <a:rPr lang="de-DE" err="1"/>
              <a:t>color</a:t>
            </a:r>
            <a:r>
              <a:rPr lang="de-DE"/>
              <a:t> </a:t>
            </a:r>
            <a:r>
              <a:rPr lang="de-DE" err="1"/>
              <a:t>contrast</a:t>
            </a:r>
            <a:endParaRPr lang="de-DE"/>
          </a:p>
          <a:p>
            <a:endParaRPr lang="de-DE">
              <a:effectLst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C58219-34F7-F2F8-7DF2-CE31E7E2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0257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CB97D-56AC-9A1B-585B-35B41457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F561A1-EDE6-4EB0-AF97-B98F93EE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Security</a:t>
            </a:r>
            <a:endParaRPr lang="de-DE">
              <a:solidFill>
                <a:srgbClr val="0080C6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28B457-3B74-A7E0-AE52-8ABF9AAAE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750" y="3101975"/>
            <a:ext cx="6553200" cy="1470025"/>
          </a:xfrm>
        </p:spPr>
        <p:txBody>
          <a:bodyPr/>
          <a:lstStyle/>
          <a:p>
            <a:r>
              <a:rPr lang="de-DE"/>
              <a:t>A </a:t>
            </a:r>
            <a:r>
              <a:rPr lang="de-DE" err="1"/>
              <a:t>critical</a:t>
            </a:r>
            <a:r>
              <a:rPr lang="de-DE"/>
              <a:t> </a:t>
            </a:r>
            <a:r>
              <a:rPr lang="de-DE" err="1"/>
              <a:t>security</a:t>
            </a:r>
            <a:r>
              <a:rPr lang="de-DE"/>
              <a:t> </a:t>
            </a:r>
            <a:r>
              <a:rPr lang="de-DE" err="1"/>
              <a:t>vulnerability</a:t>
            </a:r>
            <a:r>
              <a:rPr lang="de-DE"/>
              <a:t> was </a:t>
            </a:r>
            <a:r>
              <a:rPr lang="de-DE" err="1"/>
              <a:t>found</a:t>
            </a:r>
            <a:r>
              <a:rPr lang="de-DE"/>
              <a:t> </a:t>
            </a:r>
            <a:r>
              <a:rPr lang="de-DE" err="1"/>
              <a:t>during</a:t>
            </a:r>
            <a:r>
              <a:rPr lang="de-DE"/>
              <a:t> </a:t>
            </a:r>
            <a:r>
              <a:rPr lang="de-DE" err="1"/>
              <a:t>analysis</a:t>
            </a:r>
            <a:endParaRPr lang="de-DE"/>
          </a:p>
          <a:p>
            <a:r>
              <a:rPr lang="de-DE" err="1"/>
              <a:t>Resolved</a:t>
            </a:r>
            <a:r>
              <a:rPr lang="de-DE"/>
              <a:t> </a:t>
            </a:r>
            <a:r>
              <a:rPr lang="de-DE" err="1"/>
              <a:t>quickly</a:t>
            </a:r>
            <a:r>
              <a:rPr lang="de-DE"/>
              <a:t> in </a:t>
            </a:r>
            <a:r>
              <a:rPr lang="de-DE" err="1"/>
              <a:t>cooperation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software</a:t>
            </a:r>
            <a:r>
              <a:rPr lang="de-DE"/>
              <a:t> </a:t>
            </a:r>
            <a:r>
              <a:rPr lang="de-DE" err="1"/>
              <a:t>developers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13F4CC-249E-1B25-6C2A-AF301213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21</a:t>
            </a:fld>
            <a:endParaRPr lang="en-DE"/>
          </a:p>
        </p:txBody>
      </p:sp>
      <p:pic>
        <p:nvPicPr>
          <p:cNvPr id="6" name="Graphic 5" descr="Lock outline">
            <a:extLst>
              <a:ext uri="{FF2B5EF4-FFF2-40B4-BE49-F238E27FC236}">
                <a16:creationId xmlns:a16="http://schemas.microsoft.com/office/drawing/2014/main" id="{87D64E54-1456-C352-4FF3-7C29453B0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500" y="31019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65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41D8-B43F-6C95-7F0A-32FE8D25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C03EF-23E2-D324-2124-27A2F416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Technological </a:t>
            </a:r>
            <a:r>
              <a:rPr lang="de-DE">
                <a:solidFill>
                  <a:srgbClr val="0080C6"/>
                </a:solidFill>
              </a:rPr>
              <a:t>Implications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3D32E8-CC39-0D98-B9DF-E2F31CF8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975"/>
            <a:ext cx="6635750" cy="1470025"/>
          </a:xfrm>
        </p:spPr>
        <p:txBody>
          <a:bodyPr/>
          <a:lstStyle/>
          <a:p>
            <a:r>
              <a:rPr lang="de-DE"/>
              <a:t>Future switch to </a:t>
            </a:r>
            <a:r>
              <a:rPr lang="de-DE" b="1"/>
              <a:t>Tivian</a:t>
            </a:r>
            <a:r>
              <a:rPr lang="de-DE"/>
              <a:t> and </a:t>
            </a:r>
            <a:r>
              <a:rPr lang="de-DE" b="1"/>
              <a:t>REDCap</a:t>
            </a:r>
          </a:p>
          <a:p>
            <a:pPr lvl="1"/>
            <a:r>
              <a:rPr lang="de-DE"/>
              <a:t>Free for non-profit use</a:t>
            </a:r>
          </a:p>
          <a:p>
            <a:pPr lvl="1"/>
            <a:r>
              <a:rPr lang="de-DE"/>
              <a:t>Focused on medical applications</a:t>
            </a:r>
          </a:p>
          <a:p>
            <a:pPr lvl="1"/>
            <a:r>
              <a:rPr lang="de-DE"/>
              <a:t>Improved accessiblity features built-in</a:t>
            </a:r>
            <a:br>
              <a:rPr lang="de-DE"/>
            </a:br>
            <a:r>
              <a:rPr lang="de-DE"/>
              <a:t>(text-to-speech, font size)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37584F-A0E4-B0A4-27ED-A490565D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22</a:t>
            </a:fld>
            <a:endParaRPr lang="en-DE"/>
          </a:p>
        </p:txBody>
      </p:sp>
      <p:pic>
        <p:nvPicPr>
          <p:cNvPr id="7" name="Picture 6" descr="A screenshot of a contact form&#10;&#10;AI-generated content may be incorrect.">
            <a:extLst>
              <a:ext uri="{FF2B5EF4-FFF2-40B4-BE49-F238E27FC236}">
                <a16:creationId xmlns:a16="http://schemas.microsoft.com/office/drawing/2014/main" id="{973151C2-F79D-A3EB-4265-3143FA6E4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300" y="1854597"/>
            <a:ext cx="4554167" cy="43378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4221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828B9-6B0A-A954-3F68-5EF194215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01127-5637-8EE6-4826-FA0E924C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Conclusion</a:t>
            </a:r>
            <a:endParaRPr lang="de-DE">
              <a:solidFill>
                <a:srgbClr val="0080C6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9CD4BE-75C0-27D5-36E4-9E3EC68F4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481"/>
            <a:ext cx="6553200" cy="3649065"/>
          </a:xfrm>
        </p:spPr>
        <p:txBody>
          <a:bodyPr>
            <a:normAutofit/>
          </a:bodyPr>
          <a:lstStyle/>
          <a:p>
            <a:r>
              <a:rPr lang="de-DE"/>
              <a:t>Main </a:t>
            </a:r>
            <a:r>
              <a:rPr lang="de-DE" err="1"/>
              <a:t>weakness</a:t>
            </a:r>
            <a:r>
              <a:rPr lang="de-DE"/>
              <a:t>: lack of </a:t>
            </a:r>
            <a:r>
              <a:rPr lang="de-DE" b="1" err="1"/>
              <a:t>predictability</a:t>
            </a:r>
            <a:r>
              <a:rPr lang="de-DE" b="1"/>
              <a:t> </a:t>
            </a:r>
            <a:r>
              <a:rPr lang="de-DE"/>
              <a:t>and</a:t>
            </a:r>
            <a:r>
              <a:rPr lang="de-DE" b="1"/>
              <a:t> </a:t>
            </a:r>
            <a:r>
              <a:rPr lang="de-DE" b="1" err="1"/>
              <a:t>feedback</a:t>
            </a:r>
            <a:endParaRPr lang="de-DE" b="1"/>
          </a:p>
          <a:p>
            <a:endParaRPr lang="de-DE"/>
          </a:p>
          <a:p>
            <a:r>
              <a:rPr lang="de-DE"/>
              <a:t>Path </a:t>
            </a:r>
            <a:r>
              <a:rPr lang="de-DE" err="1"/>
              <a:t>from</a:t>
            </a:r>
            <a:r>
              <a:rPr lang="de-DE"/>
              <a:t> „</a:t>
            </a:r>
            <a:r>
              <a:rPr lang="de-DE" b="1" err="1"/>
              <a:t>functional</a:t>
            </a:r>
            <a:r>
              <a:rPr lang="de-DE" b="1"/>
              <a:t> but </a:t>
            </a:r>
            <a:r>
              <a:rPr lang="de-DE" b="1" err="1"/>
              <a:t>outdated</a:t>
            </a:r>
            <a:r>
              <a:rPr lang="de-DE"/>
              <a:t>“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b="1"/>
              <a:t>user-</a:t>
            </a:r>
            <a:r>
              <a:rPr lang="de-DE" b="1" err="1"/>
              <a:t>friendly</a:t>
            </a:r>
            <a:r>
              <a:rPr lang="de-DE" b="1"/>
              <a:t> and reliable</a:t>
            </a:r>
          </a:p>
          <a:p>
            <a:pPr marL="0" indent="0">
              <a:buNone/>
            </a:pPr>
            <a:endParaRPr lang="de-DE" b="1"/>
          </a:p>
          <a:p>
            <a:r>
              <a:rPr lang="en-US"/>
              <a:t>Prioritize </a:t>
            </a:r>
            <a:r>
              <a:rPr lang="en-US" b="1"/>
              <a:t>mobile compatibility</a:t>
            </a:r>
            <a:r>
              <a:rPr lang="en-US"/>
              <a:t> to enable a </a:t>
            </a:r>
            <a:r>
              <a:rPr lang="en-US" b="1"/>
              <a:t>modern workflow</a:t>
            </a:r>
            <a:endParaRPr lang="de-DE" b="1"/>
          </a:p>
          <a:p>
            <a:endParaRPr lang="de-DE" b="1"/>
          </a:p>
          <a:p>
            <a:r>
              <a:rPr lang="de-DE" b="1" err="1"/>
              <a:t>Cost-effective</a:t>
            </a:r>
            <a:r>
              <a:rPr lang="de-DE"/>
              <a:t> </a:t>
            </a:r>
            <a:r>
              <a:rPr lang="de-DE" err="1"/>
              <a:t>changes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high </a:t>
            </a:r>
            <a:r>
              <a:rPr lang="de-DE" err="1"/>
              <a:t>return</a:t>
            </a:r>
            <a:r>
              <a:rPr lang="de-DE"/>
              <a:t> in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satisfaction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07C4E9-0D61-5E10-6B1D-95E7BD1B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5837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nformatik">
      <a:majorFont>
        <a:latin typeface="Consolas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Widescreen</PresentationFormat>
  <Paragraphs>209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CaskaydiaMono NFM</vt:lpstr>
      <vt:lpstr>Montserrat</vt:lpstr>
      <vt:lpstr>Montserrat ExtraBold</vt:lpstr>
      <vt:lpstr>Roboto</vt:lpstr>
      <vt:lpstr>Office Theme</vt:lpstr>
      <vt:lpstr>UX Design Challenge (Final)</vt:lpstr>
      <vt:lpstr>Table Of Contents </vt:lpstr>
      <vt:lpstr>Challenge &amp; Goal</vt:lpstr>
      <vt:lpstr>Applied UX Research Methods</vt:lpstr>
      <vt:lpstr>Data Analysis Overview</vt:lpstr>
      <vt:lpstr>Patient Perspective</vt:lpstr>
      <vt:lpstr>Patient Perspective</vt:lpstr>
      <vt:lpstr>Patient Perspective</vt:lpstr>
      <vt:lpstr>Patient Perspective</vt:lpstr>
      <vt:lpstr>Patient Perspective</vt:lpstr>
      <vt:lpstr>Patient Perspective</vt:lpstr>
      <vt:lpstr>Patient Perspective</vt:lpstr>
      <vt:lpstr>Patient Perspective</vt:lpstr>
      <vt:lpstr>Physician Perspective</vt:lpstr>
      <vt:lpstr>Physician Perspective</vt:lpstr>
      <vt:lpstr>Physician Perspective</vt:lpstr>
      <vt:lpstr>Physician Perspective</vt:lpstr>
      <vt:lpstr>Physician Perspective</vt:lpstr>
      <vt:lpstr>Physician Perspective</vt:lpstr>
      <vt:lpstr>Physician Perspective</vt:lpstr>
      <vt:lpstr>Security</vt:lpstr>
      <vt:lpstr>Technological Implications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Silas Kraume</dc:creator>
  <cp:lastModifiedBy>Silas Kraume</cp:lastModifiedBy>
  <cp:revision>1</cp:revision>
  <dcterms:created xsi:type="dcterms:W3CDTF">2025-12-30T17:56:45Z</dcterms:created>
  <dcterms:modified xsi:type="dcterms:W3CDTF">2026-02-02T14:42:20Z</dcterms:modified>
</cp:coreProperties>
</file>