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8" r:id="rId4"/>
    <p:sldId id="274" r:id="rId5"/>
    <p:sldId id="275" r:id="rId6"/>
    <p:sldId id="276" r:id="rId7"/>
    <p:sldId id="268" r:id="rId8"/>
    <p:sldId id="277" r:id="rId9"/>
    <p:sldId id="267" r:id="rId10"/>
    <p:sldId id="270" r:id="rId11"/>
    <p:sldId id="271" r:id="rId12"/>
    <p:sldId id="272" r:id="rId13"/>
    <p:sldId id="273" r:id="rId14"/>
    <p:sldId id="260" r:id="rId15"/>
    <p:sldId id="265" r:id="rId1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1640472E-FA7B-4FD5-9C75-505595863DCE}">
          <p14:sldIdLst>
            <p14:sldId id="256"/>
            <p14:sldId id="259"/>
            <p14:sldId id="258"/>
            <p14:sldId id="274"/>
            <p14:sldId id="275"/>
            <p14:sldId id="276"/>
            <p14:sldId id="268"/>
            <p14:sldId id="277"/>
            <p14:sldId id="267"/>
            <p14:sldId id="270"/>
            <p14:sldId id="271"/>
            <p14:sldId id="272"/>
            <p14:sldId id="273"/>
            <p14:sldId id="26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65E"/>
    <a:srgbClr val="0080C6"/>
    <a:srgbClr val="4575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7B932-508D-4337-B88D-B394A8459CE2}" v="2358" dt="2026-01-04T14:36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1F18-95E3-4422-9FEC-9CFE55A7F8B6}" type="datetimeFigureOut">
              <a:rPr lang="de-DE" smtClean="0"/>
              <a:t>04.01.2026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C95C8-EEE4-43D8-9872-9A17DE8FD46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54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C95C8-EEE4-43D8-9872-9A17DE8FD46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61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D0E8-A45E-D54A-E239-D8828C43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8935D9-9999-EB34-4FF3-B27C2994B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C5FF3-D118-305F-B4F7-827FFE9D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28380-C195-4E7A-818F-89F88AEECA94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3B023-2459-02CA-2D14-EF843C92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B2365-69B1-498A-360A-8153AEAD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720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C1E4-A1D2-E360-EF39-BFEDE338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CDDA3-3728-C274-824F-76698FE05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E99F0-234A-C066-30F4-7E3539CB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C1CB-2A36-4C9B-AEC7-7F2925255C2E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3401-B9E4-FC62-AD8C-F3A41233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ACFC-56BF-BBFE-C0FE-44A14EC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054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6134-6C77-8F97-F065-2098EA009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D9B48-EB09-E694-5FD8-C2185167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C633-BD1C-29B5-1E41-6DB47D62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3273-A8D3-4100-BBB8-FB0F522C98E9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8B204-551F-59FA-0D7A-7C8E88B9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350D-183C-85D2-3F06-538E450E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5983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FB10-9A82-C615-BC09-D62B9135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C37F-5FDB-3CC6-3B96-1437F8715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542C3-2B1A-8496-0F47-AB982452E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6EEBF-327C-0621-F176-9BB38BA8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DBF4D-D46D-4C27-A409-F00A0E21B9F7}" type="datetime1">
              <a:rPr lang="LID4096" smtClean="0"/>
              <a:t>01/04/2026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5102B-8DF1-4B23-0E83-850C8F0B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85E47-2012-60B9-4D4D-228470EE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66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BFA8-63D1-0A03-787E-0441D61F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12E86-7AFB-17CA-C7EE-A8156863A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9499E-0DF8-00F1-FAB8-A421565D1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74072-F032-4736-ABC5-A1D8969AD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B6F6D-E73A-B4EF-1C44-7801AC130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ED8A1-8071-4E36-D83F-18C0D801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8D1C-625B-41DF-B317-C56196925884}" type="datetime1">
              <a:rPr lang="LID4096" smtClean="0"/>
              <a:t>01/04/2026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87F0D-26EA-71C1-4B1E-D111CAF1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B58C3-90A3-C348-284B-731ECE3D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223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AC99A-D14D-9CE1-4525-FBDFF818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C0C53-6DB9-5259-6C9A-36888A6B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0ED82-09C9-480B-BAE6-423F94FC5724}" type="datetime1">
              <a:rPr lang="LID4096" smtClean="0"/>
              <a:t>01/04/2026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19292-2D33-F8C3-55A2-1682D06B2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C3BFC-B5DD-98D5-5D9D-68E7A7C3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533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62120-AAAE-C042-6A74-F66E4A00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D6E1-F084-4902-9755-636861229408}" type="datetime1">
              <a:rPr lang="LID4096" smtClean="0"/>
              <a:t>01/04/2026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C9440E-8948-1080-339A-569A0025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D4ED0-EBC3-CB56-3262-A4E3B1A6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993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40D4-2174-FDB5-0093-DB4B8B74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549E-1407-F537-80C4-723D7FAD2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D6D3F-5947-A1E6-BC4C-60A08AB94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6847C-7D6C-46A6-3601-D5ED8B46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6F898-AC4A-4CFC-85DA-B93E290B5D28}" type="datetime1">
              <a:rPr lang="LID4096" smtClean="0"/>
              <a:t>01/04/2026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B1519-D791-D382-4D54-BB250C90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4D1D7-E067-5CB8-5F7B-DEDEE560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924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E278-FDF0-0DBA-4B6C-F26525A8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2CDF4-EA21-4FCC-0CD6-E0CE0D554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80787-84D4-38A8-C490-A2214189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DC146-B341-CF14-5EB4-D3BECAA5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BF3C-7F71-4F06-9044-A20A91A6B3DA}" type="datetime1">
              <a:rPr lang="LID4096" smtClean="0"/>
              <a:t>01/04/2026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B77F9-7A7A-A935-6909-1EB43290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9FC2A-2B31-A6BD-D703-722AA257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825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9875-2A9A-A0F8-85E7-90E79B00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BC3A5-18C9-F736-CABF-D7CC5472A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60729-75C6-43C7-C416-8E47898F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5B73-FCD6-4B67-AF1D-5F17F60EAFE9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702D0-C4E1-84B3-4035-56E25DA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21054-8A97-497C-6064-910F796F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807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08954-C597-2F40-5359-686DFAF3D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FFCC3-2B29-E8FF-ACEC-805842BB7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B0E52-2D13-BFC3-A29D-2672C3CC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44C79-0E52-4858-8DE8-B244B246CE73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0214-1268-135D-D591-BBA95C72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B3A4-DB2B-2EEC-5658-82F4B94E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603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B48D9-BC58-4762-3210-093DE806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AA98-238A-8F90-9DE4-983056514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B2F0-AD93-7FF9-70F5-E19A13C84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72F5-9062-4328-8F2D-73894A6939F9}" type="datetime1">
              <a:rPr lang="LID4096" smtClean="0"/>
              <a:t>01/04/2026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162C-D7D1-8F46-B223-424CB534E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BC0F-F1AB-5EC3-BCFF-515736892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9DD2E-1911-40AD-A0E7-5B382A2C91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603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Montserrat ExtraBold" panose="000009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0000"/>
        </a:lnSpc>
        <a:spcBef>
          <a:spcPts val="10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500"/>
        </a:spcBef>
        <a:buClr>
          <a:srgbClr val="0080C6"/>
        </a:buClr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5042-D394-AA1C-9107-8AB6C9E69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074027"/>
            <a:ext cx="10109199" cy="598032"/>
          </a:xfrm>
        </p:spPr>
        <p:txBody>
          <a:bodyPr anchor="ctr">
            <a:noAutofit/>
          </a:bodyPr>
          <a:lstStyle/>
          <a:p>
            <a:pPr algn="l"/>
            <a:r>
              <a:rPr lang="en-US" sz="4400" spc="100">
                <a:solidFill>
                  <a:srgbClr val="14365E"/>
                </a:solidFill>
                <a:latin typeface="Montserrat ExtraBold"/>
                <a:cs typeface="Poppins"/>
                <a:sym typeface="Poppins"/>
                <a:rtl val="0"/>
              </a:rPr>
              <a:t>UX Design </a:t>
            </a:r>
            <a:r>
              <a:rPr lang="en-US" sz="4400" spc="100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Challenge</a:t>
            </a:r>
            <a:r>
              <a:rPr lang="de-DE" sz="4400" b="1"/>
              <a:t> </a:t>
            </a:r>
            <a:r>
              <a:rPr lang="de-DE" sz="4400">
                <a:solidFill>
                  <a:srgbClr val="14365E"/>
                </a:solidFill>
                <a:latin typeface="Montserrat" panose="00000500000000000000" pitchFamily="2" charset="0"/>
              </a:rPr>
              <a:t>(Interim)</a:t>
            </a:r>
            <a:endParaRPr lang="en-DE" sz="4400">
              <a:solidFill>
                <a:srgbClr val="14365E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18030-B5E9-E9BF-A96B-D8881D4A4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5672059"/>
            <a:ext cx="10109199" cy="547765"/>
          </a:xfrm>
        </p:spPr>
        <p:txBody>
          <a:bodyPr anchor="t">
            <a:normAutofit/>
          </a:bodyPr>
          <a:lstStyle/>
          <a:p>
            <a:pPr algn="l"/>
            <a:r>
              <a:rPr lang="de-DE" err="1"/>
              <a:t>with</a:t>
            </a:r>
            <a:r>
              <a:rPr lang="de-DE"/>
              <a:t> a </a:t>
            </a:r>
            <a:r>
              <a:rPr lang="de-DE" err="1"/>
              <a:t>focus</a:t>
            </a:r>
            <a:r>
              <a:rPr lang="de-DE"/>
              <a:t> on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participation</a:t>
            </a:r>
            <a:endParaRPr lang="en-DE"/>
          </a:p>
        </p:txBody>
      </p:sp>
      <p:pic>
        <p:nvPicPr>
          <p:cNvPr id="5" name="Grafik 4" descr="Ein Bild, das Reh, Text, Säugetier enthält.&#10;&#10;KI-generierte Inhalte können fehlerhaft sein.">
            <a:extLst>
              <a:ext uri="{FF2B5EF4-FFF2-40B4-BE49-F238E27FC236}">
                <a16:creationId xmlns:a16="http://schemas.microsoft.com/office/drawing/2014/main" id="{E73438C1-E24B-7312-5122-2C91502A0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" b="3362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A6F5DBE5-9440-1625-34C3-E99E5526C438}"/>
              </a:ext>
            </a:extLst>
          </p:cNvPr>
          <p:cNvSpPr txBox="1">
            <a:spLocks/>
          </p:cNvSpPr>
          <p:nvPr/>
        </p:nvSpPr>
        <p:spPr>
          <a:xfrm>
            <a:off x="762000" y="6121639"/>
            <a:ext cx="10109199" cy="547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500"/>
              </a:spcBef>
              <a:buClr>
                <a:srgbClr val="0080C6"/>
              </a:buClr>
              <a:buFont typeface="Montserrat" panose="00000500000000000000" pitchFamily="2" charset="0"/>
              <a:buNone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400" err="1"/>
              <a:t>by</a:t>
            </a:r>
            <a:r>
              <a:rPr lang="de-DE" sz="1400"/>
              <a:t> Silas Kraume, Léon Lehnen, </a:t>
            </a:r>
            <a:r>
              <a:rPr lang="de-DE" sz="1400" err="1"/>
              <a:t>Anh</a:t>
            </a:r>
            <a:r>
              <a:rPr lang="de-DE" sz="1400"/>
              <a:t>-Thu Dinh and Alejandro Soto</a:t>
            </a:r>
            <a:endParaRPr lang="en-DE" sz="1400"/>
          </a:p>
        </p:txBody>
      </p:sp>
    </p:spTree>
    <p:extLst>
      <p:ext uri="{BB962C8B-B14F-4D97-AF65-F5344CB8AC3E}">
        <p14:creationId xmlns:p14="http://schemas.microsoft.com/office/powerpoint/2010/main" val="259409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4B50262-DF16-45DD-A7ED-23CDAB6D6F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494433" y="887283"/>
            <a:ext cx="5500224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100" normalizeH="0" baseline="0" noProof="0" dirty="0">
                <a:ln>
                  <a:noFill/>
                </a:ln>
                <a:solidFill>
                  <a:srgbClr val="14365E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Table Of </a:t>
            </a:r>
            <a:r>
              <a:rPr kumimoji="0" lang="en-US" sz="4000" b="0" i="0" u="none" strike="noStrike" kern="1200" cap="none" spc="100" normalizeH="0" baseline="0" noProof="0" dirty="0">
                <a:ln>
                  <a:noFill/>
                </a:ln>
                <a:solidFill>
                  <a:srgbClr val="0080C6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Contents</a:t>
            </a:r>
            <a:r>
              <a:rPr kumimoji="0" lang="en-US" sz="4000" b="0" i="0" u="none" strike="noStrike" kern="1200" cap="none" spc="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ExtraBold"/>
                <a:ea typeface="+mn-ea"/>
                <a:cs typeface="Poppins"/>
                <a:sym typeface="Poppins"/>
                <a:rtl val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37113B-15F5-45A5-90FB-8FF9BC6C7881}"/>
              </a:ext>
            </a:extLst>
          </p:cNvPr>
          <p:cNvSpPr txBox="1"/>
          <p:nvPr/>
        </p:nvSpPr>
        <p:spPr>
          <a:xfrm>
            <a:off x="5694140" y="1782593"/>
            <a:ext cx="157126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About </a:t>
            </a:r>
            <a:r>
              <a:rPr lang="en-US" sz="1500" err="1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Rhekiss</a:t>
            </a:r>
            <a:endParaRPr lang="en-US" sz="1500">
              <a:solidFill>
                <a:srgbClr val="404040"/>
              </a:solidFill>
              <a:latin typeface="Montserrat"/>
              <a:cs typeface="Poppins"/>
              <a:sym typeface="Poppins"/>
              <a:rtl val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C08BA-B6F4-4300-80AB-07F72BA9B80B}"/>
              </a:ext>
            </a:extLst>
          </p:cNvPr>
          <p:cNvSpPr txBox="1"/>
          <p:nvPr/>
        </p:nvSpPr>
        <p:spPr>
          <a:xfrm>
            <a:off x="10955133" y="1787357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04D30-26DE-4427-AFE4-8560D156B858}"/>
              </a:ext>
            </a:extLst>
          </p:cNvPr>
          <p:cNvSpPr txBox="1"/>
          <p:nvPr/>
        </p:nvSpPr>
        <p:spPr>
          <a:xfrm>
            <a:off x="5694140" y="2302849"/>
            <a:ext cx="209063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UX Design </a:t>
            </a:r>
            <a:r>
              <a:rPr lang="en-US" sz="1500" err="1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Callenge</a:t>
            </a:r>
            <a:endParaRPr lang="en-US" sz="1500">
              <a:solidFill>
                <a:srgbClr val="404040"/>
              </a:solidFill>
              <a:latin typeface="Montserrat"/>
              <a:cs typeface="Poppins"/>
              <a:sym typeface="Poppins"/>
              <a:rtl val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373FC9-797C-4004-AD13-367125FCF452}"/>
              </a:ext>
            </a:extLst>
          </p:cNvPr>
          <p:cNvSpPr txBox="1"/>
          <p:nvPr/>
        </p:nvSpPr>
        <p:spPr>
          <a:xfrm>
            <a:off x="10955133" y="2307613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716F7-CF6C-42BF-8DB8-5EAEB7F45371}"/>
              </a:ext>
            </a:extLst>
          </p:cNvPr>
          <p:cNvSpPr txBox="1"/>
          <p:nvPr/>
        </p:nvSpPr>
        <p:spPr>
          <a:xfrm>
            <a:off x="5694140" y="2823104"/>
            <a:ext cx="13660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UX Methods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EBCE83-A4B8-4679-BB3D-9A0E99A1BD94}"/>
              </a:ext>
            </a:extLst>
          </p:cNvPr>
          <p:cNvSpPr txBox="1"/>
          <p:nvPr/>
        </p:nvSpPr>
        <p:spPr>
          <a:xfrm>
            <a:off x="10955133" y="2827868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08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4855B-9FEB-41EF-9BB0-CB70AAA858AD}"/>
              </a:ext>
            </a:extLst>
          </p:cNvPr>
          <p:cNvSpPr txBox="1"/>
          <p:nvPr/>
        </p:nvSpPr>
        <p:spPr>
          <a:xfrm>
            <a:off x="5694140" y="3343264"/>
            <a:ext cx="20505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Preliminary Results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0C5A1A-BBAD-4BBC-800C-14A6FFD200B3}"/>
              </a:ext>
            </a:extLst>
          </p:cNvPr>
          <p:cNvSpPr txBox="1"/>
          <p:nvPr/>
        </p:nvSpPr>
        <p:spPr>
          <a:xfrm>
            <a:off x="10955133" y="3348028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80A81-AD74-411F-8F02-4801E062D18A}"/>
              </a:ext>
            </a:extLst>
          </p:cNvPr>
          <p:cNvSpPr txBox="1"/>
          <p:nvPr/>
        </p:nvSpPr>
        <p:spPr>
          <a:xfrm>
            <a:off x="5694140" y="3863520"/>
            <a:ext cx="20505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Current Challenges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790037-A94A-41D8-8F34-CF8A72BFB9B9}"/>
              </a:ext>
            </a:extLst>
          </p:cNvPr>
          <p:cNvSpPr txBox="1"/>
          <p:nvPr/>
        </p:nvSpPr>
        <p:spPr>
          <a:xfrm>
            <a:off x="10955134" y="3868284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E0611-5580-4CD5-B400-9C9F407B6C9F}"/>
              </a:ext>
            </a:extLst>
          </p:cNvPr>
          <p:cNvSpPr txBox="1"/>
          <p:nvPr/>
        </p:nvSpPr>
        <p:spPr>
          <a:xfrm>
            <a:off x="5694140" y="4383680"/>
            <a:ext cx="12586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>
                <a:solidFill>
                  <a:srgbClr val="404040"/>
                </a:solidFill>
                <a:latin typeface="Montserrat"/>
                <a:cs typeface="Poppins"/>
                <a:sym typeface="Poppins"/>
                <a:rtl val="0"/>
              </a:rPr>
              <a:t>Conclusion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773459-E5FA-48B7-9AEF-747EE593636F}"/>
              </a:ext>
            </a:extLst>
          </p:cNvPr>
          <p:cNvSpPr txBox="1"/>
          <p:nvPr/>
        </p:nvSpPr>
        <p:spPr>
          <a:xfrm>
            <a:off x="10955133" y="4388444"/>
            <a:ext cx="370614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25">
                <a:solidFill>
                  <a:srgbClr val="0080C6"/>
                </a:solidFill>
                <a:latin typeface="CaskaydiaMono NFM" panose="02000009000000000000" pitchFamily="49" charset="0"/>
                <a:ea typeface="CaskaydiaMono NFM" panose="02000009000000000000" pitchFamily="49" charset="0"/>
                <a:cs typeface="CaskaydiaMono NFM" panose="02000009000000000000" pitchFamily="49" charset="0"/>
                <a:sym typeface="Poppins"/>
                <a:rtl val="0"/>
              </a:rPr>
              <a:t>15</a:t>
            </a:r>
          </a:p>
        </p:txBody>
      </p:sp>
      <p:pic>
        <p:nvPicPr>
          <p:cNvPr id="3" name="Picture 2" descr="rhekiss logo">
            <a:extLst>
              <a:ext uri="{FF2B5EF4-FFF2-40B4-BE49-F238E27FC236}">
                <a16:creationId xmlns:a16="http://schemas.microsoft.com/office/drawing/2014/main" id="{CE4CABDF-D071-7152-229E-DDD4E24B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1" y="1166494"/>
            <a:ext cx="3246742" cy="4606671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0A3E3B8-C9A0-4143-BED9-8A6824869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1915738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263751-62E3-46E2-B16C-76E48B05C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2103183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DF73A7-EE56-4E79-8F73-1DF90DC45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2435994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075471F-D4E1-4FA3-911E-32E4802C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2625248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0177E6D-B670-45B3-84BB-9E869F163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295624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C2A5551-E1DE-44BB-8560-2569D4A48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3147409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94171E2-E846-49AF-9687-3CFE10458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3476409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75C1653-EC84-48F8-B6AE-0DF1EA4E8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3669474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18059F8-FE79-48D9-A916-CB0869BD5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3996665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57D7025-C6D3-4C89-BAB5-67045DE72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4191635"/>
            <a:ext cx="5757100" cy="17145"/>
          </a:xfrm>
          <a:custGeom>
            <a:avLst/>
            <a:gdLst>
              <a:gd name="connsiteX0" fmla="*/ 0 w 5757100"/>
              <a:gd name="connsiteY0" fmla="*/ 0 h 17145"/>
              <a:gd name="connsiteX1" fmla="*/ 5757101 w 5757100"/>
              <a:gd name="connsiteY1" fmla="*/ 0 h 17145"/>
              <a:gd name="connsiteX2" fmla="*/ 5757101 w 5757100"/>
              <a:gd name="connsiteY2" fmla="*/ 17145 h 17145"/>
              <a:gd name="connsiteX3" fmla="*/ 1 w 5757100"/>
              <a:gd name="connsiteY3" fmla="*/ 17145 h 1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5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AF1EFD0-B9D5-4094-9DC8-943C6B532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2607" y="4516825"/>
            <a:ext cx="54863" cy="54863"/>
          </a:xfrm>
          <a:custGeom>
            <a:avLst/>
            <a:gdLst>
              <a:gd name="connsiteX0" fmla="*/ 0 w 54863"/>
              <a:gd name="connsiteY0" fmla="*/ 0 h 54863"/>
              <a:gd name="connsiteX1" fmla="*/ 54864 w 54863"/>
              <a:gd name="connsiteY1" fmla="*/ 0 h 54863"/>
              <a:gd name="connsiteX2" fmla="*/ 54864 w 54863"/>
              <a:gd name="connsiteY2" fmla="*/ 54864 h 54863"/>
              <a:gd name="connsiteX3" fmla="*/ 0 w 54863"/>
              <a:gd name="connsiteY3" fmla="*/ 54864 h 54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3" h="54863">
                <a:moveTo>
                  <a:pt x="0" y="0"/>
                </a:moveTo>
                <a:lnTo>
                  <a:pt x="54864" y="0"/>
                </a:lnTo>
                <a:lnTo>
                  <a:pt x="54864" y="54864"/>
                </a:lnTo>
                <a:lnTo>
                  <a:pt x="0" y="54864"/>
                </a:lnTo>
                <a:close/>
              </a:path>
            </a:pathLst>
          </a:custGeom>
          <a:solidFill>
            <a:srgbClr val="0080C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CB2E800-1A41-4289-8684-2C53C61F4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4791" y="4713796"/>
            <a:ext cx="5757100" cy="17144"/>
          </a:xfrm>
          <a:custGeom>
            <a:avLst/>
            <a:gdLst>
              <a:gd name="connsiteX0" fmla="*/ 0 w 5757100"/>
              <a:gd name="connsiteY0" fmla="*/ 0 h 17144"/>
              <a:gd name="connsiteX1" fmla="*/ 5757101 w 5757100"/>
              <a:gd name="connsiteY1" fmla="*/ 0 h 17144"/>
              <a:gd name="connsiteX2" fmla="*/ 5757101 w 5757100"/>
              <a:gd name="connsiteY2" fmla="*/ 17145 h 17144"/>
              <a:gd name="connsiteX3" fmla="*/ 1 w 5757100"/>
              <a:gd name="connsiteY3" fmla="*/ 17145 h 1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7100" h="17144">
                <a:moveTo>
                  <a:pt x="0" y="0"/>
                </a:moveTo>
                <a:lnTo>
                  <a:pt x="5757101" y="0"/>
                </a:lnTo>
                <a:lnTo>
                  <a:pt x="5757101" y="17145"/>
                </a:lnTo>
                <a:lnTo>
                  <a:pt x="1" y="1714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1645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6BD9-46A6-CE90-06C9-FB89AC7F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About</a:t>
            </a:r>
            <a:r>
              <a:rPr lang="de-DE"/>
              <a:t> </a:t>
            </a:r>
            <a:r>
              <a:rPr lang="en-US" spc="100" err="1">
                <a:solidFill>
                  <a:srgbClr val="0080C6"/>
                </a:solidFill>
                <a:latin typeface="Montserrat ExtraBold"/>
                <a:cs typeface="Poppins"/>
                <a:sym typeface="Poppins"/>
                <a:rtl val="0"/>
              </a:rPr>
              <a:t>Rhekiss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C5A98-1BC3-F969-88DA-DDF2F3D38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700" y="1987550"/>
            <a:ext cx="6311900" cy="3584833"/>
          </a:xfrm>
        </p:spPr>
        <p:txBody>
          <a:bodyPr>
            <a:normAutofit/>
          </a:bodyPr>
          <a:lstStyle/>
          <a:p>
            <a:r>
              <a:rPr lang="de-DE" b="1"/>
              <a:t>Nationwide </a:t>
            </a:r>
            <a:r>
              <a:rPr lang="de-DE" b="1" err="1"/>
              <a:t>pregnancy</a:t>
            </a:r>
            <a:r>
              <a:rPr lang="de-DE" b="1"/>
              <a:t> </a:t>
            </a:r>
            <a:r>
              <a:rPr lang="de-DE" b="1" err="1"/>
              <a:t>registry</a:t>
            </a:r>
            <a:r>
              <a:rPr lang="de-DE" b="1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rheumatism</a:t>
            </a:r>
            <a:r>
              <a:rPr lang="de-DE"/>
              <a:t> </a:t>
            </a:r>
            <a:r>
              <a:rPr lang="de-DE" err="1"/>
              <a:t>patients</a:t>
            </a:r>
            <a:endParaRPr lang="de-DE"/>
          </a:p>
          <a:p>
            <a:endParaRPr lang="de-DE"/>
          </a:p>
          <a:p>
            <a:r>
              <a:rPr lang="de-DE"/>
              <a:t>Focus on </a:t>
            </a:r>
            <a:r>
              <a:rPr lang="de-DE" b="1" err="1"/>
              <a:t>family</a:t>
            </a:r>
            <a:r>
              <a:rPr lang="de-DE" b="1"/>
              <a:t> </a:t>
            </a:r>
            <a:r>
              <a:rPr lang="de-DE" b="1" err="1"/>
              <a:t>planning</a:t>
            </a:r>
            <a:r>
              <a:rPr lang="de-DE" b="1"/>
              <a:t>, </a:t>
            </a:r>
            <a:r>
              <a:rPr lang="de-DE" b="1" err="1"/>
              <a:t>pregnancy</a:t>
            </a:r>
            <a:r>
              <a:rPr lang="de-DE" b="1"/>
              <a:t> and postpartum</a:t>
            </a:r>
            <a:r>
              <a:rPr lang="de-DE"/>
              <a:t> </a:t>
            </a:r>
            <a:r>
              <a:rPr lang="de-DE" err="1"/>
              <a:t>outcomes</a:t>
            </a:r>
            <a:endParaRPr lang="de-DE"/>
          </a:p>
          <a:p>
            <a:r>
              <a:rPr lang="en-US"/>
              <a:t>Patients are included by their treating rheumatologist</a:t>
            </a:r>
          </a:p>
          <a:p>
            <a:endParaRPr lang="en-US"/>
          </a:p>
          <a:p>
            <a:r>
              <a:rPr lang="de-DE"/>
              <a:t>Both </a:t>
            </a:r>
            <a:r>
              <a:rPr lang="de-DE" b="1" err="1"/>
              <a:t>physicians</a:t>
            </a:r>
            <a:r>
              <a:rPr lang="de-DE"/>
              <a:t> and </a:t>
            </a:r>
            <a:r>
              <a:rPr lang="de-DE" b="1" err="1"/>
              <a:t>patients</a:t>
            </a:r>
            <a:r>
              <a:rPr lang="de-DE"/>
              <a:t> </a:t>
            </a:r>
            <a:r>
              <a:rPr lang="de-DE" err="1"/>
              <a:t>enter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via </a:t>
            </a:r>
            <a:r>
              <a:rPr lang="de-DE" err="1"/>
              <a:t>the</a:t>
            </a:r>
            <a:r>
              <a:rPr lang="de-DE"/>
              <a:t> web-</a:t>
            </a:r>
            <a:r>
              <a:rPr lang="de-DE" err="1"/>
              <a:t>application</a:t>
            </a:r>
            <a:r>
              <a:rPr lang="de-DE"/>
              <a:t> (</a:t>
            </a:r>
            <a:r>
              <a:rPr lang="de-DE" err="1"/>
              <a:t>surveys</a:t>
            </a:r>
            <a:r>
              <a:rPr lang="de-DE"/>
              <a:t>)</a:t>
            </a:r>
          </a:p>
          <a:p>
            <a:r>
              <a:rPr lang="en-US"/>
              <a:t>Investigates, inter alia, the </a:t>
            </a:r>
            <a:r>
              <a:rPr lang="en-US" b="1"/>
              <a:t>safety of medications</a:t>
            </a:r>
            <a:endParaRPr lang="de-DE" b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CCD19-61E3-3101-2933-EDF4C0B9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3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24FAC9-33B8-3E80-F8DE-18361FFE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60" y="3184105"/>
            <a:ext cx="800101" cy="80010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2926424-986E-DA39-B062-B32C902DB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0" y="6582975"/>
            <a:ext cx="504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Icons from www.flaticon.com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9FE3BC-2E3B-0400-F296-C91D4084B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61" y="4467031"/>
            <a:ext cx="8001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8316BB-4CBC-E65B-A0C9-1373126CE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662" y="1901180"/>
            <a:ext cx="8001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9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8510EC-17A7-EB6C-2F9A-7D065F46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Current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UI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FF1979-B825-CEC8-7C2E-F2456406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4</a:t>
            </a:fld>
            <a:endParaRPr lang="en-DE"/>
          </a:p>
        </p:txBody>
      </p:sp>
      <p:pic>
        <p:nvPicPr>
          <p:cNvPr id="6" name="Grafik 5" descr="Ein Bild, das Text, Screenshot, Zahl, parallel enthält.&#10;&#10;KI-generierte Inhalte können fehlerhaft sein.">
            <a:extLst>
              <a:ext uri="{FF2B5EF4-FFF2-40B4-BE49-F238E27FC236}">
                <a16:creationId xmlns:a16="http://schemas.microsoft.com/office/drawing/2014/main" id="{84CEC2A7-E6F3-DCDB-D995-B5703A86C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14" y="1681163"/>
            <a:ext cx="9704172" cy="4675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4226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99351-FECA-319A-EC51-DBC9A65F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Current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UI </a:t>
            </a:r>
            <a:r>
              <a:rPr lang="de-DE">
                <a:solidFill>
                  <a:srgbClr val="14365E"/>
                </a:solidFill>
                <a:latin typeface="Montserrat" panose="00000500000000000000" pitchFamily="2" charset="0"/>
              </a:rPr>
              <a:t>(Wide Screens)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9F2239-4317-6EA2-3EEF-822D3BF0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5</a:t>
            </a:fld>
            <a:endParaRPr lang="en-DE"/>
          </a:p>
        </p:txBody>
      </p:sp>
      <p:pic>
        <p:nvPicPr>
          <p:cNvPr id="8" name="Grafik 7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8572940C-B61F-040D-4EB3-4909E125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1907224"/>
            <a:ext cx="10356850" cy="38687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5967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CF7EA-7AFA-E2E4-F347-AE34A487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Current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UI </a:t>
            </a:r>
            <a:r>
              <a:rPr lang="de-DE">
                <a:solidFill>
                  <a:srgbClr val="14365E"/>
                </a:solidFill>
                <a:latin typeface="Montserrat" panose="00000500000000000000" pitchFamily="2" charset="0"/>
              </a:rPr>
              <a:t>(Mobile)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02A19F-302A-F9FB-EDC2-9F5A8FEB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6</a:t>
            </a:fld>
            <a:endParaRPr lang="en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BB8514A-5A99-8C67-1EED-A219B0F6E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975"/>
            <a:ext cx="3634740" cy="3813175"/>
          </a:xfrm>
        </p:spPr>
        <p:txBody>
          <a:bodyPr/>
          <a:lstStyle/>
          <a:p>
            <a:r>
              <a:rPr lang="de-DE" b="1"/>
              <a:t>Limited mobile </a:t>
            </a:r>
            <a:r>
              <a:rPr lang="de-DE" b="1" err="1"/>
              <a:t>device</a:t>
            </a:r>
            <a:r>
              <a:rPr lang="de-DE" b="1"/>
              <a:t> </a:t>
            </a:r>
            <a:r>
              <a:rPr lang="de-DE" b="1" err="1"/>
              <a:t>friendlyness</a:t>
            </a:r>
            <a:r>
              <a:rPr lang="de-DE" b="1"/>
              <a:t> </a:t>
            </a:r>
            <a:r>
              <a:rPr lang="de-DE" err="1"/>
              <a:t>despite</a:t>
            </a:r>
            <a:r>
              <a:rPr lang="de-DE"/>
              <a:t> </a:t>
            </a:r>
            <a:r>
              <a:rPr lang="de-DE" err="1"/>
              <a:t>ever</a:t>
            </a:r>
            <a:r>
              <a:rPr lang="de-DE"/>
              <a:t> </a:t>
            </a:r>
            <a:r>
              <a:rPr lang="de-DE" err="1"/>
              <a:t>increasing</a:t>
            </a:r>
            <a:r>
              <a:rPr lang="de-DE"/>
              <a:t>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mobile </a:t>
            </a:r>
            <a:r>
              <a:rPr lang="de-DE" err="1"/>
              <a:t>devices</a:t>
            </a:r>
            <a:endParaRPr lang="de-DE"/>
          </a:p>
        </p:txBody>
      </p:sp>
      <p:pic>
        <p:nvPicPr>
          <p:cNvPr id="8" name="Grafik 7" descr="homepage auf mobilgerät">
            <a:extLst>
              <a:ext uri="{FF2B5EF4-FFF2-40B4-BE49-F238E27FC236}">
                <a16:creationId xmlns:a16="http://schemas.microsoft.com/office/drawing/2014/main" id="{692A6D55-1911-797E-5E1F-E93351A07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5" b="7314"/>
          <a:stretch>
            <a:fillRect/>
          </a:stretch>
        </p:blipFill>
        <p:spPr>
          <a:xfrm>
            <a:off x="4769072" y="1612582"/>
            <a:ext cx="2653856" cy="4743768"/>
          </a:xfrm>
          <a:prstGeom prst="rect">
            <a:avLst/>
          </a:prstGeom>
          <a:ln>
            <a:solidFill>
              <a:srgbClr val="14365E"/>
            </a:solidFill>
          </a:ln>
        </p:spPr>
      </p:pic>
    </p:spTree>
    <p:extLst>
      <p:ext uri="{BB962C8B-B14F-4D97-AF65-F5344CB8AC3E}">
        <p14:creationId xmlns:p14="http://schemas.microsoft.com/office/powerpoint/2010/main" val="427490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6C790-D9E5-B058-D8EC-69E5F268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UX Design </a:t>
            </a:r>
            <a:r>
              <a:rPr lang="de-DE">
                <a:solidFill>
                  <a:srgbClr val="0080C6"/>
                </a:solidFill>
              </a:rPr>
              <a:t>Challenge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FC4BA6-B4F9-FCF1-E6E5-186944B57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975"/>
            <a:ext cx="6654800" cy="3813175"/>
          </a:xfrm>
        </p:spPr>
        <p:txBody>
          <a:bodyPr/>
          <a:lstStyle/>
          <a:p>
            <a:r>
              <a:rPr lang="de-DE"/>
              <a:t>User </a:t>
            </a:r>
            <a:r>
              <a:rPr lang="de-DE" err="1"/>
              <a:t>experience</a:t>
            </a:r>
            <a:r>
              <a:rPr lang="de-DE"/>
              <a:t> and </a:t>
            </a:r>
            <a:r>
              <a:rPr lang="de-DE" err="1"/>
              <a:t>performance</a:t>
            </a:r>
            <a:r>
              <a:rPr lang="de-DE"/>
              <a:t> </a:t>
            </a:r>
            <a:r>
              <a:rPr lang="de-DE" err="1"/>
              <a:t>improvements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Physicians</a:t>
            </a:r>
            <a:r>
              <a:rPr lang="de-DE"/>
              <a:t> and </a:t>
            </a:r>
            <a:r>
              <a:rPr lang="de-DE" err="1"/>
              <a:t>Patients</a:t>
            </a:r>
            <a:endParaRPr lang="de-DE"/>
          </a:p>
          <a:p>
            <a:r>
              <a:rPr lang="de-DE"/>
              <a:t>Work </a:t>
            </a:r>
            <a:r>
              <a:rPr lang="de-DE" err="1"/>
              <a:t>should</a:t>
            </a:r>
            <a:r>
              <a:rPr lang="de-DE"/>
              <a:t> not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hindered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bad</a:t>
            </a:r>
            <a:r>
              <a:rPr lang="de-DE"/>
              <a:t> UX</a:t>
            </a:r>
          </a:p>
          <a:p>
            <a:pPr lvl="1"/>
            <a:r>
              <a:rPr lang="de-DE" err="1"/>
              <a:t>Identify</a:t>
            </a:r>
            <a:r>
              <a:rPr lang="de-DE"/>
              <a:t> </a:t>
            </a:r>
            <a:r>
              <a:rPr lang="de-DE" err="1"/>
              <a:t>pain</a:t>
            </a:r>
            <a:r>
              <a:rPr lang="de-DE"/>
              <a:t> </a:t>
            </a:r>
            <a:r>
              <a:rPr lang="de-DE" err="1"/>
              <a:t>points</a:t>
            </a:r>
            <a:r>
              <a:rPr lang="de-DE"/>
              <a:t> and </a:t>
            </a:r>
            <a:r>
              <a:rPr lang="de-DE" err="1"/>
              <a:t>suggest</a:t>
            </a:r>
            <a:r>
              <a:rPr lang="de-DE"/>
              <a:t> </a:t>
            </a:r>
            <a:r>
              <a:rPr lang="de-DE" err="1"/>
              <a:t>improvements</a:t>
            </a:r>
            <a:endParaRPr lang="de-DE"/>
          </a:p>
          <a:p>
            <a:r>
              <a:rPr lang="de-DE" err="1"/>
              <a:t>Physicians</a:t>
            </a:r>
            <a:r>
              <a:rPr lang="de-DE"/>
              <a:t> </a:t>
            </a:r>
            <a:r>
              <a:rPr lang="de-DE" err="1"/>
              <a:t>workflow</a:t>
            </a:r>
            <a:r>
              <a:rPr lang="de-DE"/>
              <a:t> </a:t>
            </a:r>
            <a:r>
              <a:rPr lang="de-DE" err="1"/>
              <a:t>enhancements</a:t>
            </a:r>
            <a:endParaRPr lang="de-DE"/>
          </a:p>
          <a:p>
            <a:pPr lvl="1"/>
            <a:r>
              <a:rPr lang="de-DE" b="1" err="1"/>
              <a:t>efficient</a:t>
            </a:r>
            <a:r>
              <a:rPr lang="de-DE" b="1"/>
              <a:t>, fast and simple</a:t>
            </a:r>
            <a:r>
              <a:rPr lang="de-DE"/>
              <a:t> design</a:t>
            </a:r>
          </a:p>
          <a:p>
            <a:r>
              <a:rPr lang="de-DE"/>
              <a:t>Patient </a:t>
            </a:r>
            <a:r>
              <a:rPr lang="de-DE" err="1"/>
              <a:t>participation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especially</a:t>
            </a:r>
            <a:r>
              <a:rPr lang="de-DE"/>
              <a:t> </a:t>
            </a:r>
            <a:r>
              <a:rPr lang="de-DE" err="1"/>
              <a:t>important</a:t>
            </a:r>
            <a:endParaRPr lang="de-DE"/>
          </a:p>
          <a:p>
            <a:pPr lvl="1"/>
            <a:r>
              <a:rPr lang="de-DE"/>
              <a:t>UI </a:t>
            </a:r>
            <a:r>
              <a:rPr lang="de-DE" err="1"/>
              <a:t>needs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b="1" err="1"/>
              <a:t>clear</a:t>
            </a:r>
            <a:r>
              <a:rPr lang="de-DE" b="1"/>
              <a:t>, </a:t>
            </a:r>
            <a:r>
              <a:rPr lang="de-DE" b="1" err="1"/>
              <a:t>self-explanatory</a:t>
            </a:r>
            <a:r>
              <a:rPr lang="de-DE" b="1"/>
              <a:t>, </a:t>
            </a:r>
            <a:r>
              <a:rPr lang="de-DE" b="1" err="1"/>
              <a:t>low</a:t>
            </a:r>
            <a:r>
              <a:rPr lang="de-DE" b="1"/>
              <a:t> </a:t>
            </a:r>
            <a:r>
              <a:rPr lang="de-DE" b="1" err="1"/>
              <a:t>barrier</a:t>
            </a:r>
            <a:endParaRPr lang="de-DE" b="1"/>
          </a:p>
          <a:p>
            <a:endParaRPr lang="de-DE"/>
          </a:p>
          <a:p>
            <a:pPr marL="0" indent="0">
              <a:buNone/>
            </a:pPr>
            <a:r>
              <a:rPr lang="de-DE">
                <a:sym typeface="Wingdings" panose="05000000000000000000" pitchFamily="2" charset="2"/>
              </a:rPr>
              <a:t> </a:t>
            </a:r>
            <a:r>
              <a:rPr lang="de-DE" err="1">
                <a:sym typeface="Wingdings" panose="05000000000000000000" pitchFamily="2" charset="2"/>
              </a:rPr>
              <a:t>Identify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b="1" err="1">
                <a:sym typeface="Wingdings" panose="05000000000000000000" pitchFamily="2" charset="2"/>
              </a:rPr>
              <a:t>culprits</a:t>
            </a:r>
            <a:r>
              <a:rPr lang="de-DE">
                <a:sym typeface="Wingdings" panose="05000000000000000000" pitchFamily="2" charset="2"/>
              </a:rPr>
              <a:t> and </a:t>
            </a:r>
            <a:r>
              <a:rPr lang="de-DE" err="1">
                <a:sym typeface="Wingdings" panose="05000000000000000000" pitchFamily="2" charset="2"/>
              </a:rPr>
              <a:t>make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the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website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more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b="1" err="1">
                <a:sym typeface="Wingdings" panose="05000000000000000000" pitchFamily="2" charset="2"/>
              </a:rPr>
              <a:t>convenient</a:t>
            </a:r>
            <a:r>
              <a:rPr lang="de-DE" b="1">
                <a:sym typeface="Wingdings" panose="05000000000000000000" pitchFamily="2" charset="2"/>
              </a:rPr>
              <a:t> and </a:t>
            </a:r>
            <a:r>
              <a:rPr lang="de-DE" b="1" err="1">
                <a:sym typeface="Wingdings" panose="05000000000000000000" pitchFamily="2" charset="2"/>
              </a:rPr>
              <a:t>usable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for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patients</a:t>
            </a:r>
            <a:r>
              <a:rPr lang="de-DE">
                <a:sym typeface="Wingdings" panose="05000000000000000000" pitchFamily="2" charset="2"/>
              </a:rPr>
              <a:t> and </a:t>
            </a:r>
            <a:r>
              <a:rPr lang="de-DE" err="1">
                <a:sym typeface="Wingdings" panose="05000000000000000000" pitchFamily="2" charset="2"/>
              </a:rPr>
              <a:t>physicians</a:t>
            </a:r>
            <a:r>
              <a:rPr lang="de-DE">
                <a:sym typeface="Wingdings" panose="05000000000000000000" pitchFamily="2" charset="2"/>
              </a:rPr>
              <a:t>!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F9F81F-0FF0-0948-50B6-DC3E1818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504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2A6CA-16E0-F857-D041-9D479ECB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UX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Methods </a:t>
            </a:r>
            <a:r>
              <a:rPr lang="de-DE">
                <a:solidFill>
                  <a:srgbClr val="14365E"/>
                </a:solidFill>
                <a:latin typeface="Montserrat" panose="00000500000000000000" pitchFamily="2" charset="0"/>
              </a:rPr>
              <a:t>(Constraints)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33A2D9-465B-9FDE-F8F1-AA0CC1A26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500" y="1755775"/>
            <a:ext cx="5740400" cy="4352925"/>
          </a:xfrm>
        </p:spPr>
        <p:txBody>
          <a:bodyPr>
            <a:normAutofit/>
          </a:bodyPr>
          <a:lstStyle/>
          <a:p>
            <a:r>
              <a:rPr lang="de-DE" err="1"/>
              <a:t>Relatively</a:t>
            </a:r>
            <a:r>
              <a:rPr lang="de-DE"/>
              <a:t> </a:t>
            </a:r>
            <a:r>
              <a:rPr lang="de-DE" err="1"/>
              <a:t>small</a:t>
            </a:r>
            <a:r>
              <a:rPr lang="de-DE"/>
              <a:t> </a:t>
            </a:r>
            <a:r>
              <a:rPr lang="de-DE" err="1"/>
              <a:t>amount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users</a:t>
            </a:r>
            <a:endParaRPr lang="de-DE"/>
          </a:p>
          <a:p>
            <a:pPr lvl="1"/>
            <a:r>
              <a:rPr lang="de-DE" err="1">
                <a:sym typeface="Wingdings" panose="05000000000000000000" pitchFamily="2" charset="2"/>
              </a:rPr>
              <a:t>No</a:t>
            </a:r>
            <a:r>
              <a:rPr lang="de-DE">
                <a:sym typeface="Wingdings" panose="05000000000000000000" pitchFamily="2" charset="2"/>
              </a:rPr>
              <a:t> large </a:t>
            </a:r>
            <a:r>
              <a:rPr lang="de-DE" err="1">
                <a:sym typeface="Wingdings" panose="05000000000000000000" pitchFamily="2" charset="2"/>
              </a:rPr>
              <a:t>scale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behaviour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analysis</a:t>
            </a:r>
            <a:endParaRPr lang="de-DE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/>
              <a:t>Budget and </a:t>
            </a:r>
            <a:r>
              <a:rPr lang="de-DE" err="1"/>
              <a:t>developer</a:t>
            </a:r>
            <a:r>
              <a:rPr lang="de-DE"/>
              <a:t> </a:t>
            </a:r>
            <a:r>
              <a:rPr lang="de-DE" err="1"/>
              <a:t>constraints</a:t>
            </a:r>
            <a:endParaRPr lang="de-DE"/>
          </a:p>
          <a:p>
            <a:pPr lvl="1"/>
            <a:r>
              <a:rPr lang="de-DE" err="1">
                <a:sym typeface="Wingdings" panose="05000000000000000000" pitchFamily="2" charset="2"/>
              </a:rPr>
              <a:t>No</a:t>
            </a:r>
            <a:r>
              <a:rPr lang="de-DE">
                <a:sym typeface="Wingdings" panose="05000000000000000000" pitchFamily="2" charset="2"/>
              </a:rPr>
              <a:t> A/B </a:t>
            </a:r>
            <a:r>
              <a:rPr lang="de-DE" err="1">
                <a:sym typeface="Wingdings" panose="05000000000000000000" pitchFamily="2" charset="2"/>
              </a:rPr>
              <a:t>testing</a:t>
            </a:r>
            <a:endParaRPr lang="de-DE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/>
              <a:t>Time </a:t>
            </a:r>
            <a:r>
              <a:rPr lang="de-DE" err="1"/>
              <a:t>limitations</a:t>
            </a:r>
            <a:endParaRPr lang="de-DE"/>
          </a:p>
          <a:p>
            <a:pPr lvl="1"/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long</a:t>
            </a:r>
            <a:r>
              <a:rPr lang="de-DE"/>
              <a:t> </a:t>
            </a:r>
            <a:r>
              <a:rPr lang="de-DE" err="1"/>
              <a:t>term</a:t>
            </a:r>
            <a:r>
              <a:rPr lang="de-DE"/>
              <a:t> </a:t>
            </a:r>
            <a:r>
              <a:rPr lang="de-DE" err="1"/>
              <a:t>evaluations</a:t>
            </a: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r>
              <a:rPr lang="de-DE"/>
              <a:t>Lack </a:t>
            </a:r>
            <a:r>
              <a:rPr lang="de-DE" err="1"/>
              <a:t>of</a:t>
            </a:r>
            <a:r>
              <a:rPr lang="de-DE"/>
              <a:t> web </a:t>
            </a:r>
            <a:r>
              <a:rPr lang="de-DE" err="1"/>
              <a:t>metrics</a:t>
            </a:r>
            <a:r>
              <a:rPr lang="de-DE"/>
              <a:t> due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anonymity</a:t>
            </a:r>
            <a:endParaRPr lang="de-DE"/>
          </a:p>
          <a:p>
            <a:pPr lvl="1"/>
            <a:r>
              <a:rPr lang="de-DE" err="1">
                <a:sym typeface="Wingdings" panose="05000000000000000000" pitchFamily="2" charset="2"/>
              </a:rPr>
              <a:t>No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metric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analysis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4D4136-9B89-9E05-B47C-5AA38E89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8</a:t>
            </a:fld>
            <a:endParaRPr lang="en-DE"/>
          </a:p>
        </p:txBody>
      </p:sp>
      <p:pic>
        <p:nvPicPr>
          <p:cNvPr id="6" name="Grafik 5" descr="Zielgruppe Silhouette">
            <a:extLst>
              <a:ext uri="{FF2B5EF4-FFF2-40B4-BE49-F238E27FC236}">
                <a16:creationId xmlns:a16="http://schemas.microsoft.com/office/drawing/2014/main" id="{B4B08DE6-4D02-9D2A-AA59-6ECA3D278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1744662"/>
            <a:ext cx="704850" cy="704850"/>
          </a:xfrm>
          <a:prstGeom prst="rect">
            <a:avLst/>
          </a:prstGeom>
        </p:spPr>
      </p:pic>
      <p:pic>
        <p:nvPicPr>
          <p:cNvPr id="7" name="Picture 6" descr="contraints icon">
            <a:extLst>
              <a:ext uri="{FF2B5EF4-FFF2-40B4-BE49-F238E27FC236}">
                <a16:creationId xmlns:a16="http://schemas.microsoft.com/office/drawing/2014/main" id="{6D984DC2-F150-957C-6B93-29F7A1086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655" y="5492750"/>
            <a:ext cx="561340" cy="561340"/>
          </a:xfrm>
          <a:prstGeom prst="rect">
            <a:avLst/>
          </a:prstGeom>
        </p:spPr>
      </p:pic>
      <p:pic>
        <p:nvPicPr>
          <p:cNvPr id="8" name="Grafik 7" descr="Münzen Silhouette">
            <a:extLst>
              <a:ext uri="{FF2B5EF4-FFF2-40B4-BE49-F238E27FC236}">
                <a16:creationId xmlns:a16="http://schemas.microsoft.com/office/drawing/2014/main" id="{F20B65C4-030B-006B-7422-BAC15CE66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1900" y="2889250"/>
            <a:ext cx="704850" cy="704850"/>
          </a:xfrm>
          <a:prstGeom prst="rect">
            <a:avLst/>
          </a:prstGeom>
        </p:spPr>
      </p:pic>
      <p:pic>
        <p:nvPicPr>
          <p:cNvPr id="10" name="Grafik 9" descr="Sanduhr abgelaufen Silhouette">
            <a:extLst>
              <a:ext uri="{FF2B5EF4-FFF2-40B4-BE49-F238E27FC236}">
                <a16:creationId xmlns:a16="http://schemas.microsoft.com/office/drawing/2014/main" id="{9DDAE814-5B54-8A30-D0A1-7A7142677C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1900" y="4116387"/>
            <a:ext cx="704850" cy="70485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5148847-FBD3-C8D5-399B-E180C9FEBA2C}"/>
              </a:ext>
            </a:extLst>
          </p:cNvPr>
          <p:cNvSpPr txBox="1"/>
          <p:nvPr/>
        </p:nvSpPr>
        <p:spPr>
          <a:xfrm>
            <a:off x="0" y="6582975"/>
            <a:ext cx="504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Icons from www.flaticon.com </a:t>
            </a:r>
          </a:p>
        </p:txBody>
      </p:sp>
    </p:spTree>
    <p:extLst>
      <p:ext uri="{BB962C8B-B14F-4D97-AF65-F5344CB8AC3E}">
        <p14:creationId xmlns:p14="http://schemas.microsoft.com/office/powerpoint/2010/main" val="3374714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4E0600-B51C-162B-25A0-55AD7556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14365E"/>
                </a:solidFill>
              </a:rPr>
              <a:t>UX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08F3D5-15A4-03C4-B363-127F45936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050" y="2070100"/>
            <a:ext cx="6045200" cy="3790950"/>
          </a:xfrm>
        </p:spPr>
        <p:txBody>
          <a:bodyPr/>
          <a:lstStyle/>
          <a:p>
            <a:r>
              <a:rPr lang="de-DE" b="1" err="1"/>
              <a:t>Clickstream</a:t>
            </a:r>
            <a:r>
              <a:rPr lang="de-DE" b="1"/>
              <a:t> </a:t>
            </a:r>
            <a:r>
              <a:rPr lang="de-DE" b="1" err="1"/>
              <a:t>analysis</a:t>
            </a:r>
            <a:r>
              <a:rPr lang="de-DE" b="1"/>
              <a:t> </a:t>
            </a:r>
          </a:p>
          <a:p>
            <a:pPr lvl="1"/>
            <a:r>
              <a:rPr lang="de-DE"/>
              <a:t>Analyze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parts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website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difficult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overly</a:t>
            </a:r>
            <a:r>
              <a:rPr lang="de-DE"/>
              <a:t> complex</a:t>
            </a:r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 b="1"/>
              <a:t>User </a:t>
            </a:r>
            <a:r>
              <a:rPr lang="de-DE" b="1" err="1"/>
              <a:t>interviews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and </a:t>
            </a:r>
            <a:r>
              <a:rPr lang="de-DE" err="1"/>
              <a:t>physicians</a:t>
            </a:r>
            <a:endParaRPr lang="de-DE"/>
          </a:p>
          <a:p>
            <a:pPr lvl="1"/>
            <a:r>
              <a:rPr lang="de-DE"/>
              <a:t>Gather </a:t>
            </a:r>
            <a:r>
              <a:rPr lang="de-DE" err="1"/>
              <a:t>direct</a:t>
            </a:r>
            <a:r>
              <a:rPr lang="de-DE"/>
              <a:t> experiences</a:t>
            </a:r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 b="1" err="1"/>
              <a:t>Accessibility</a:t>
            </a:r>
            <a:r>
              <a:rPr lang="de-DE" b="1"/>
              <a:t> </a:t>
            </a:r>
            <a:r>
              <a:rPr lang="de-DE" b="1" err="1"/>
              <a:t>testing</a:t>
            </a:r>
            <a:endParaRPr lang="de-DE" b="1"/>
          </a:p>
          <a:p>
            <a:pPr lvl="1"/>
            <a:r>
              <a:rPr lang="de-DE"/>
              <a:t>Find out potential </a:t>
            </a:r>
            <a:r>
              <a:rPr lang="de-DE" err="1"/>
              <a:t>culprits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impairments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51CB8-21F2-9FB7-8CA7-CE1B43B0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9</a:t>
            </a:fld>
            <a:endParaRPr lang="en-DE"/>
          </a:p>
        </p:txBody>
      </p:sp>
      <p:pic>
        <p:nvPicPr>
          <p:cNvPr id="17" name="Picture 16" descr="clickstream icon">
            <a:extLst>
              <a:ext uri="{FF2B5EF4-FFF2-40B4-BE49-F238E27FC236}">
                <a16:creationId xmlns:a16="http://schemas.microsoft.com/office/drawing/2014/main" id="{FA7ABCE5-4299-CDE6-C71C-A3AB04F43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0" y="2184400"/>
            <a:ext cx="482600" cy="482600"/>
          </a:xfrm>
          <a:prstGeom prst="rect">
            <a:avLst/>
          </a:prstGeom>
        </p:spPr>
      </p:pic>
      <p:pic>
        <p:nvPicPr>
          <p:cNvPr id="6" name="Grafik 5" descr="Fragen Silhouette">
            <a:extLst>
              <a:ext uri="{FF2B5EF4-FFF2-40B4-BE49-F238E27FC236}">
                <a16:creationId xmlns:a16="http://schemas.microsoft.com/office/drawing/2014/main" id="{E7BB5348-E730-9728-FA54-2F0E56CF9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1750" y="3363116"/>
            <a:ext cx="800101" cy="80010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29ADF28-1087-EF8C-3161-42501AC81B7C}"/>
              </a:ext>
            </a:extLst>
          </p:cNvPr>
          <p:cNvSpPr txBox="1"/>
          <p:nvPr/>
        </p:nvSpPr>
        <p:spPr>
          <a:xfrm>
            <a:off x="0" y="6582975"/>
            <a:ext cx="504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Icons from www.flaticon.com </a:t>
            </a:r>
          </a:p>
        </p:txBody>
      </p:sp>
      <p:pic>
        <p:nvPicPr>
          <p:cNvPr id="9" name="Grafik 8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BB03A0F8-B481-CC51-D00B-C54A1C6E55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502" y="4768849"/>
            <a:ext cx="634695" cy="63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9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30BD7-F15E-EA50-07C0-BB256809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Clickstream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Analysis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76B594-F068-3CA1-A267-3D24B5F1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10</a:t>
            </a:fld>
            <a:endParaRPr lang="en-DE"/>
          </a:p>
        </p:txBody>
      </p:sp>
      <p:pic>
        <p:nvPicPr>
          <p:cNvPr id="8" name="Grafik 7" descr="Ein Bild, das Text, Screenshot, Diagramm, Plan enthält.&#10;&#10;KI-generierte Inhalte können fehlerhaft sein.">
            <a:extLst>
              <a:ext uri="{FF2B5EF4-FFF2-40B4-BE49-F238E27FC236}">
                <a16:creationId xmlns:a16="http://schemas.microsoft.com/office/drawing/2014/main" id="{DDF32139-794F-ADA5-1789-ED3262143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71" y="1417159"/>
            <a:ext cx="8307258" cy="4939191"/>
          </a:xfrm>
          <a:prstGeom prst="rect">
            <a:avLst/>
          </a:prstGeom>
          <a:ln>
            <a:solidFill>
              <a:srgbClr val="14365E"/>
            </a:solidFill>
          </a:ln>
        </p:spPr>
      </p:pic>
    </p:spTree>
    <p:extLst>
      <p:ext uri="{BB962C8B-B14F-4D97-AF65-F5344CB8AC3E}">
        <p14:creationId xmlns:p14="http://schemas.microsoft.com/office/powerpoint/2010/main" val="378091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FFBE4-97A6-7CA2-7232-0CD606AB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Preliminary</a:t>
            </a:r>
            <a:r>
              <a:rPr lang="de-DE"/>
              <a:t> </a:t>
            </a:r>
            <a:r>
              <a:rPr lang="de-DE" err="1">
                <a:solidFill>
                  <a:srgbClr val="0080C6"/>
                </a:solidFill>
              </a:rPr>
              <a:t>Results</a:t>
            </a:r>
            <a:endParaRPr lang="de-DE">
              <a:solidFill>
                <a:srgbClr val="0080C6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7E1335-C61E-4871-0574-536C3696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11</a:t>
            </a:fld>
            <a:endParaRPr lang="en-DE"/>
          </a:p>
        </p:txBody>
      </p:sp>
      <p:pic>
        <p:nvPicPr>
          <p:cNvPr id="6" name="Grafik 5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A9E7C145-8685-23F0-5D50-B28068789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46" y="2043368"/>
            <a:ext cx="10570508" cy="396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70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078CC-6535-2BAE-E214-BD552654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14365E"/>
                </a:solidFill>
              </a:rPr>
              <a:t>Preliminary</a:t>
            </a:r>
            <a:r>
              <a:rPr lang="de-DE"/>
              <a:t> </a:t>
            </a:r>
            <a:r>
              <a:rPr lang="de-DE" dirty="0" err="1">
                <a:solidFill>
                  <a:srgbClr val="0080C6"/>
                </a:solidFill>
              </a:rPr>
              <a:t>Results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612AC-8131-9F0A-4E26-0D09F1A2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12</a:t>
            </a:fld>
            <a:endParaRPr lang="en-DE"/>
          </a:p>
        </p:txBody>
      </p:sp>
      <p:pic>
        <p:nvPicPr>
          <p:cNvPr id="6" name="Grafik 5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D2B6DD6A-40DF-364B-12B3-5501400EF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360" y="2032201"/>
            <a:ext cx="9495280" cy="39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65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03488-FD3F-73C6-F4A4-48347B03E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Preliminary</a:t>
            </a:r>
            <a:r>
              <a:rPr lang="de-DE"/>
              <a:t> </a:t>
            </a:r>
            <a:r>
              <a:rPr lang="de-DE" err="1">
                <a:solidFill>
                  <a:srgbClr val="0080C6"/>
                </a:solidFill>
              </a:rPr>
              <a:t>Results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446F14-990E-016F-6EC0-A38561D4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13</a:t>
            </a:fld>
            <a:endParaRPr lang="en-DE"/>
          </a:p>
        </p:txBody>
      </p:sp>
      <p:pic>
        <p:nvPicPr>
          <p:cNvPr id="9" name="Picture 8" descr="image showing html tag problem with disabled zoom features">
            <a:extLst>
              <a:ext uri="{FF2B5EF4-FFF2-40B4-BE49-F238E27FC236}">
                <a16:creationId xmlns:a16="http://schemas.microsoft.com/office/drawing/2014/main" id="{FB2333F7-93AD-997D-2C4D-2DB8D6646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183345"/>
            <a:ext cx="10274300" cy="36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1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0670-45F2-39A7-4466-18AEBED9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rgbClr val="14365E"/>
                </a:solidFill>
              </a:rPr>
              <a:t>Current</a:t>
            </a:r>
            <a:r>
              <a:rPr lang="de-DE"/>
              <a:t> </a:t>
            </a:r>
            <a:r>
              <a:rPr lang="de-DE">
                <a:solidFill>
                  <a:srgbClr val="0080C6"/>
                </a:solidFill>
              </a:rPr>
              <a:t>Challenges</a:t>
            </a:r>
            <a:endParaRPr lang="en-DE">
              <a:solidFill>
                <a:srgbClr val="0080C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DB3D-C998-86DB-3F69-432BD6B4C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850" y="2003425"/>
            <a:ext cx="6337300" cy="4035425"/>
          </a:xfrm>
        </p:spPr>
        <p:txBody>
          <a:bodyPr/>
          <a:lstStyle/>
          <a:p>
            <a:r>
              <a:rPr lang="de-DE" b="1"/>
              <a:t>Scheduling interview</a:t>
            </a:r>
            <a:r>
              <a:rPr lang="de-DE"/>
              <a:t> </a:t>
            </a:r>
            <a:r>
              <a:rPr lang="de-DE" err="1"/>
              <a:t>appointments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patients</a:t>
            </a:r>
            <a:r>
              <a:rPr lang="de-DE"/>
              <a:t> </a:t>
            </a:r>
            <a:r>
              <a:rPr lang="de-DE" err="1"/>
              <a:t>proves</a:t>
            </a:r>
            <a:r>
              <a:rPr lang="de-DE"/>
              <a:t> </a:t>
            </a:r>
            <a:r>
              <a:rPr lang="de-DE" err="1"/>
              <a:t>difficult</a:t>
            </a:r>
            <a:endParaRPr lang="de-DE"/>
          </a:p>
          <a:p>
            <a:endParaRPr lang="de-DE"/>
          </a:p>
          <a:p>
            <a:endParaRPr lang="de-DE"/>
          </a:p>
          <a:p>
            <a:r>
              <a:rPr lang="de-DE" b="1"/>
              <a:t>Technical </a:t>
            </a:r>
            <a:r>
              <a:rPr lang="de-DE" b="1" err="1"/>
              <a:t>problems</a:t>
            </a:r>
            <a:r>
              <a:rPr lang="de-DE"/>
              <a:t> </a:t>
            </a:r>
            <a:r>
              <a:rPr lang="de-DE" err="1"/>
              <a:t>make</a:t>
            </a:r>
            <a:r>
              <a:rPr lang="de-DE"/>
              <a:t> </a:t>
            </a:r>
            <a:r>
              <a:rPr lang="de-DE" err="1"/>
              <a:t>certain</a:t>
            </a:r>
            <a:r>
              <a:rPr lang="de-DE"/>
              <a:t> </a:t>
            </a:r>
            <a:r>
              <a:rPr lang="de-DE" err="1"/>
              <a:t>analyses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complex</a:t>
            </a:r>
            <a:r>
              <a:rPr lang="de-DE"/>
              <a:t> </a:t>
            </a:r>
            <a:r>
              <a:rPr lang="de-DE" err="1"/>
              <a:t>than</a:t>
            </a:r>
            <a:r>
              <a:rPr lang="de-DE"/>
              <a:t> </a:t>
            </a:r>
            <a:r>
              <a:rPr lang="de-DE" err="1"/>
              <a:t>anticipated</a:t>
            </a:r>
            <a:r>
              <a:rPr lang="de-DE"/>
              <a:t> (e.g.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gets</a:t>
            </a:r>
            <a:r>
              <a:rPr lang="de-DE"/>
              <a:t> </a:t>
            </a:r>
            <a:r>
              <a:rPr lang="de-DE" err="1"/>
              <a:t>logged</a:t>
            </a:r>
            <a:r>
              <a:rPr lang="de-DE"/>
              <a:t> out after </a:t>
            </a:r>
            <a:r>
              <a:rPr lang="de-DE" err="1"/>
              <a:t>site</a:t>
            </a:r>
            <a:r>
              <a:rPr lang="de-DE"/>
              <a:t> </a:t>
            </a:r>
            <a:r>
              <a:rPr lang="de-DE" err="1"/>
              <a:t>refresh</a:t>
            </a:r>
            <a:r>
              <a:rPr lang="de-DE"/>
              <a:t>)</a:t>
            </a:r>
          </a:p>
          <a:p>
            <a:pPr lvl="1"/>
            <a:r>
              <a:rPr lang="de-DE" err="1"/>
              <a:t>Accessibility</a:t>
            </a:r>
            <a:r>
              <a:rPr lang="de-DE"/>
              <a:t> </a:t>
            </a:r>
            <a:r>
              <a:rPr lang="de-DE" err="1"/>
              <a:t>testing</a:t>
            </a:r>
            <a:r>
              <a:rPr lang="de-DE"/>
              <a:t> </a:t>
            </a:r>
            <a:r>
              <a:rPr lang="de-DE" err="1"/>
              <a:t>relies</a:t>
            </a:r>
            <a:r>
              <a:rPr lang="de-DE"/>
              <a:t> on page-</a:t>
            </a:r>
            <a:r>
              <a:rPr lang="de-DE" err="1"/>
              <a:t>reloading</a:t>
            </a:r>
            <a:endParaRPr lang="de-DE"/>
          </a:p>
          <a:p>
            <a:pPr marL="457200" lvl="1" indent="0">
              <a:buNone/>
            </a:pPr>
            <a:endParaRPr lang="de-DE"/>
          </a:p>
          <a:p>
            <a:pPr marL="457200" lvl="1" indent="0">
              <a:buNone/>
            </a:pPr>
            <a:endParaRPr lang="de-DE"/>
          </a:p>
          <a:p>
            <a:r>
              <a:rPr lang="de-DE"/>
              <a:t>Solutions/</a:t>
            </a:r>
            <a:r>
              <a:rPr lang="de-DE" err="1"/>
              <a:t>Improvements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b="1" err="1"/>
              <a:t>security</a:t>
            </a:r>
            <a:r>
              <a:rPr lang="de-DE" b="1"/>
              <a:t> </a:t>
            </a:r>
            <a:r>
              <a:rPr lang="de-DE" b="1" err="1"/>
              <a:t>conforment</a:t>
            </a:r>
            <a:r>
              <a:rPr lang="de-DE"/>
              <a:t> and viable </a:t>
            </a:r>
            <a:r>
              <a:rPr lang="de-DE" err="1"/>
              <a:t>given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b="1"/>
              <a:t>limited </a:t>
            </a:r>
            <a:r>
              <a:rPr lang="de-DE" b="1" err="1"/>
              <a:t>budget</a:t>
            </a:r>
            <a:endParaRPr lang="de-DE" b="1"/>
          </a:p>
          <a:p>
            <a:pPr lvl="1"/>
            <a:r>
              <a:rPr lang="de-DE"/>
              <a:t>Implementation </a:t>
            </a:r>
            <a:r>
              <a:rPr lang="de-DE" err="1"/>
              <a:t>needs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considered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380B-4E33-92BF-9B5A-4A361E10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14</a:t>
            </a:fld>
            <a:endParaRPr lang="en-DE"/>
          </a:p>
        </p:txBody>
      </p:sp>
      <p:pic>
        <p:nvPicPr>
          <p:cNvPr id="8" name="Grafik 7" descr="Uhr Silhouette">
            <a:extLst>
              <a:ext uri="{FF2B5EF4-FFF2-40B4-BE49-F238E27FC236}">
                <a16:creationId xmlns:a16="http://schemas.microsoft.com/office/drawing/2014/main" id="{2D7606E6-FE8E-3D6E-B59A-376A351D5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501" y="1870075"/>
            <a:ext cx="746126" cy="746126"/>
          </a:xfrm>
          <a:prstGeom prst="rect">
            <a:avLst/>
          </a:prstGeom>
        </p:spPr>
      </p:pic>
      <p:pic>
        <p:nvPicPr>
          <p:cNvPr id="10" name="Grafik 9" descr="Schraubenschlüssel Silhouette">
            <a:extLst>
              <a:ext uri="{FF2B5EF4-FFF2-40B4-BE49-F238E27FC236}">
                <a16:creationId xmlns:a16="http://schemas.microsoft.com/office/drawing/2014/main" id="{CE3B4860-42BA-5485-83CF-CC38DF043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501" y="3400424"/>
            <a:ext cx="746126" cy="746126"/>
          </a:xfrm>
          <a:prstGeom prst="rect">
            <a:avLst/>
          </a:prstGeom>
        </p:spPr>
      </p:pic>
      <p:pic>
        <p:nvPicPr>
          <p:cNvPr id="12" name="Grafik 11" descr="Sperren Silhouette">
            <a:extLst>
              <a:ext uri="{FF2B5EF4-FFF2-40B4-BE49-F238E27FC236}">
                <a16:creationId xmlns:a16="http://schemas.microsoft.com/office/drawing/2014/main" id="{E9080887-0CD3-9F11-10B2-4BD47D121A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7501" y="4943473"/>
            <a:ext cx="746126" cy="7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94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F60D-8B36-EFFC-8365-9D72AE57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4365E"/>
                </a:solidFill>
              </a:rPr>
              <a:t>Conclusion</a:t>
            </a:r>
            <a:endParaRPr lang="en-DE">
              <a:solidFill>
                <a:srgbClr val="14365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30BE9-A3A1-614B-1506-291C1117E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Goal </a:t>
            </a:r>
            <a:r>
              <a:rPr lang="de-DE" err="1"/>
              <a:t>has</a:t>
            </a:r>
            <a:r>
              <a:rPr lang="de-DE"/>
              <a:t> </a:t>
            </a:r>
            <a:r>
              <a:rPr lang="de-DE" err="1"/>
              <a:t>been</a:t>
            </a:r>
            <a:r>
              <a:rPr lang="de-DE"/>
              <a:t> </a:t>
            </a:r>
            <a:r>
              <a:rPr lang="de-DE" err="1"/>
              <a:t>determined</a:t>
            </a:r>
            <a:endParaRPr lang="de-DE"/>
          </a:p>
          <a:p>
            <a:r>
              <a:rPr lang="de-DE"/>
              <a:t>UX </a:t>
            </a:r>
            <a:r>
              <a:rPr lang="de-DE" err="1"/>
              <a:t>methods</a:t>
            </a:r>
            <a:r>
              <a:rPr lang="de-DE"/>
              <a:t> </a:t>
            </a:r>
            <a:r>
              <a:rPr lang="de-DE" err="1"/>
              <a:t>chosen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achieve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goal</a:t>
            </a:r>
          </a:p>
          <a:p>
            <a:endParaRPr lang="de-DE"/>
          </a:p>
          <a:p>
            <a:r>
              <a:rPr lang="de-DE"/>
              <a:t>Future work</a:t>
            </a:r>
          </a:p>
          <a:p>
            <a:pPr lvl="1"/>
            <a:r>
              <a:rPr lang="de-DE"/>
              <a:t>Perform user interviews for further analysis</a:t>
            </a:r>
          </a:p>
          <a:p>
            <a:pPr lvl="1"/>
            <a:r>
              <a:rPr lang="de-DE"/>
              <a:t>Investigate alternative tech solutions</a:t>
            </a:r>
          </a:p>
          <a:p>
            <a:pPr lvl="1"/>
            <a:r>
              <a:rPr lang="de-DE"/>
              <a:t>Create improved design prototypes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3691A-EB16-1FD1-4DD5-A6C091CA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9DD2E-1911-40AD-A0E7-5B382A2C9119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502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nformatik">
      <a:majorFont>
        <a:latin typeface="Consolas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Widescreen</PresentationFormat>
  <Paragraphs>103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CaskaydiaMono NFM</vt:lpstr>
      <vt:lpstr>Montserrat</vt:lpstr>
      <vt:lpstr>Montserrat ExtraBold</vt:lpstr>
      <vt:lpstr>Roboto</vt:lpstr>
      <vt:lpstr>Wingdings</vt:lpstr>
      <vt:lpstr>Office Theme</vt:lpstr>
      <vt:lpstr>UX Design Challenge (Interim)</vt:lpstr>
      <vt:lpstr>Table Of Contents </vt:lpstr>
      <vt:lpstr>About Rhekiss</vt:lpstr>
      <vt:lpstr>Current UI</vt:lpstr>
      <vt:lpstr>Current UI (Wide Screens)</vt:lpstr>
      <vt:lpstr>Current UI (Mobile)</vt:lpstr>
      <vt:lpstr>UX Design Challenge</vt:lpstr>
      <vt:lpstr>UX Methods (Constraints)</vt:lpstr>
      <vt:lpstr>UX Methods</vt:lpstr>
      <vt:lpstr>Clickstream Analysis</vt:lpstr>
      <vt:lpstr>Preliminary Results</vt:lpstr>
      <vt:lpstr>Preliminary Results</vt:lpstr>
      <vt:lpstr>Preliminary Results</vt:lpstr>
      <vt:lpstr>Current 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Silas Kraume</dc:creator>
  <cp:lastModifiedBy>Silas Kraume</cp:lastModifiedBy>
  <cp:revision>2</cp:revision>
  <dcterms:created xsi:type="dcterms:W3CDTF">2025-12-30T17:56:45Z</dcterms:created>
  <dcterms:modified xsi:type="dcterms:W3CDTF">2026-01-04T15:14:52Z</dcterms:modified>
</cp:coreProperties>
</file>